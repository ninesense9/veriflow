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VeriFlow 面向 AI 出题和工作流审核，把自然语言要求、结构化流程、检查证据和发布门禁连接起来。本版本增加算法实现细节，供评委独立阅读；封面图片沿用原版 AI 概念视觉，不作为产品证据。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已实现能力以 docs/contest 和代码为准。competition-v2 为2026-09-19的内部确定性合成变异套件，共5正常、50故障，不能外推为所有真实流程的准确率。检测、定位与修复后最终静态 PASS 三个指标分开理解。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赛题官网 https://www.aicomp.cn/tracks/tracks-2/3792.html 明确要求完整核心功能、AI融合、核心算法说明、测试与部署材料。本页将问题类型、实现机制和证据产物对应到六项评分，分值20/20/20/20/15/5，不估算作品得分。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出题侧通过Spec、IR、静态验证、运行证据、修复和门禁形成质检链。解题侧通过Docker沙箱、隐藏数据和对拍反馈失败反例。双路径的功能范围见 docs/contest/02-功能设计.md、03-产品说明书.md。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依据 services/api、apps/web 和 docs/CURRENT_ARCHITECTURE.md。模型服务采用DeepSeek/OpenAI兼容调用，用于生成工作流、可选补丁和解题教练。packages/spec/veriflow_spec/compiler.py 默认使用启发式关键词/平台模板。模型评分不作为门禁，竞赛模型对照没有运行。运行流程模拟和提交代码沙箱是两个不同的执行模块。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两个JSON为字段摘录，不是可直接运行的完整文件。WorkflowIR必需ir_version、domain、name、nodes、edges。模型定义拒绝额外字段、重复节点ID和未知节点引用。packages/spec/veriflow_spec/consistency.py 的_order_cycles实际上只检查互逆的两条顺序要求，未实现一般长环检测；引用与数量冲突也按其当前规则检查。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packages/verify/veriflow_verify/result.py：collect_issues 调度check_workflow、semantic_issues、safety_issues，再assemble_result。五维共享检查函数，不是五个AI模型。整体_status优先级：失败约束或HIGH/CRITICAL问题→FAIL；其他问题→WARNING；未知约束→UNKNOWN；否则PASS。图检查与汇总 confidence=1.0 不作为统计校准置信度展示。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packages/ir/veriflow_ir/graph.py 的bypass_path使用deque BFS，屏蔽checkpoint节点，源节点采用原图入度为0的节点，不启用fallback。parent回溯一条绕过见证。目标就是checkpoint时返回None。cycle_witness是三色DFS，GRAY回边产生闭合环；compose域检查环。单次搜索时间O(V+E)，辅助队列、parent、visited或递归栈O(V)，邻接存储O(V+E)。第8页图为算法示意，不是案例一原图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ackages/verify/veriflow_verify/semantic.py按id/kind/tool匹配选择器；required_actions检查at_least_one与exactly_one；顺序检查bypass_path并确认前置节点可达目标。数据依赖检查至少一对生产者/消费者可达。packages/staticcheck/veriflow_staticcheck/check.py只比较声明的顶层类型名，没有做完整JSON Schema兼容检查。safety.py对凭据键、环境引用、URL、范围守卫采用配置与关键字规则，未证明值传递或信息流安全。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ackages/runtime/veriflow_runtime/monitor.py每条规则通过_hits扫描轨迹，完成事件保留重复次数。BEFORE在后件未执行时可通过，因此需EVENTUALLY等约束要求动作发生。IF_EXECUTED_THEN与IF_BRANCH_THEN使用最晚后件位置判断每个触发是否有更晚后件，一次较晚后件可满足多个先前触发。未观察分支为UNKNOWN，未知算子也UNKNOWN。mock_execute是确定性DAG遍历，外部写入模拟；不是生产工作流执行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packages/runtime/veriflow_runtime/align.py先逐节点搜下游，_tighten 遍历 Spec.ordering_constraints 补充下游关系。_topo_biased 仅按 IR 边和首次观测位置偏置做 Kahn 排序，补充的规格关系不参与这个线性扩展，只用于随后局部逆序检查。DP插入/删除代价1，同ID代价0，不同ID代价10^6，所以优先形成缺失与额外事件。回溯输出MATCH/MISSING_EXPECTED/UNEXPECTED_EXECUTION，另有局部OUT_OF_ORDER与分支追加。按代码，逐节点可达搜索O(V(V+E))、空间最多O(V²)；ready列表每轮重新排序的保守上界O(V² log V+E)；DP时间空间O(nm)。规格关系补充另有选择器匹配与集合操作。当前局部逆序判定没有完整的并发最优性或逆序检测保证；不按旧文档简化为整体O(V²)+O(nm)。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ackages/explain/veriflow_explain/minimize.py实现witness-slice+endpoint-reduction。先合并见证和关联节点，过滤未知ID；见证至少两节点时优先端点与见证上的关联节点，保留原有内部边及affected_edges。原witness_path单独保留，裁剪的节点集可能不连通，不能视为可执行新图。globally_minimal明确为False，未通过重验和子图搜索证明最小性。rootcause.py按关联节点分组，不证明因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ackages/repair/veriflow_repair/select.py：规则规划、问题轮转和安全优先可生成不同计划；可选AI候选进入同一筛选。evaluate_candidate输出patch_schema、graph_integrity、policy_whitelist、incremental_screening、full_verification、regression_decision六阶段。patch_schema实际拒绝空列表，Patch字段结构由模型约束。全量验证阶段可返回FAIL状态，最后accept_candidate按code+affected_nodes匹配目标问题是否消失，并要求无新增HIGH/CRITICAL；可达/结构只判断该问题类别是否从无变有，不保证已有该类别时不出现其他变化；所以接受不等于最终PASS。候选拒绝不替换原图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ex_key元组顺序直接来自select.py。它在已有候选中按词典序选择，不证明全局最小补丁。incremental.py识别节点、边、条件、配置、类型绑定与trigger变化，将变更节点沿修改后图传播到下游；affected_constraints用于说明和计数，实际verify_scoped按验证器类别重算并保留其他类别Issue。previous缺失或rerun为全五维回退全量。loop.py默认3轮；scripts/competition_benchmark.py使用max_iterations=2。重复故障指纹、候选拒绝、PASS或次数上限终止。loop.regression_rate为拒绝次数/尝试次数，本稿不将该字段当真实回归率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用现有代码运行examples/golden/case1_order.json，保存于sources/case_evidence.json。实际issues含MISSING_HUMAN_GATE、guard对应的MISSING_REQUIRED_ACTION、WEAK_BOUNDS。原图只有gen和pub。allow_ai=False、max_iterations=3，规则修复实际用2轮。第一轮add_node(review)、断开gen→pub、连接gen→review→pub，接受后仍FAIL；第二轮插入g_bounds并重新连边，总计8个Patch操作，最终静态PASS、运行PASS、Gate READY。此复核不是新增竞赛基准。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读取case4_runtime_ir.json，compile_spec使用golden案例需求，mock_execute(skip_after='if_pay')得到gen/g_bounds/if_pay三个成功事件。静态12/12约束通过；运行7项可判定，5FAIL、2PASS。节点覆盖3/6，constraint_runtime_coverage=1，意为全部约束可判定而不是全部通过。alignment缺失notify_1/review/pub，代价3。Gate仅因RUNTIME_FAIL拦截。本案例是模拟截断，无真实外部写入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产品页沿用左运行轨迹/问题证据、右沙箱记录的两栏结构。右图为主代理2026-10-05核对的线上/status/23 VF1001 WA，原始output/final-audit/cloud-status23.png从真实三列分别裁剪后竖排，保留输入两行3与1 2 3、期望6、实际666。没有重新绘制截图，没有AI生成界面。支持C++17、Python3；交互题、特殊评判、Java未实现。左侧截图等待本次线上报告功能区更新。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主结果来自experiments/runs/competition/metrics.json、cases.csv，时间2026-09-19T07:02:56Z。TP50、TN5、FP0、FN0，P/R/F1均1。诊断50/50，定位35/50。运行专有5条不进入静态修复分母；scripts/competition_benchmark.py 以 report.final.status == PASS 计分，45条中38条在最多两轮规则修复后最终静态 PASS，7条未通过；不能解释为中间候选接受率。六条missing_branch或broken_binding无改善，一条branch_notify/broken_binding补丁不合法。耗时为进程内均值，不包括页面等待、模型网络调用或全链路延迟。内部套件可能存在规则与变异覆盖偏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ablation.json同套55案例：仅结构F1 .462/召回.300，安全关闭F1 .889/召回.800且runtime仍启用，仅静态F1 .947/召回.900，完整1/1。模型对照llm_judge.json为NOT RUN，密钥未设置，分数字段空。后端287通过为2026-09-30测试报告记录，本次未重跑整套测试。incremental/latency.json 是4节点单例历史记录；终检读取全量.169ms/增量.130ms、equivalent=true、used_full_fallback=false、synthetic=false。该文件可被再次测量覆盖，幻灯片不保留不稳定耗时数值；缺乏重复次数、测量分布与广泛样本，不计算通用加速倍数，也不覆盖竞赛未测量口径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应用价值是可运行能力与潜在使用场景，不虚构用户、试点收益、商业收入。CI门禁有结构化结果与退出码，但生产部署需另行接入。真实n8n/Dify未集成，n8n现有导入导出限JSON子集。安全、时序、并发与修复都有当前边界。后续先扩大样本、完成对照与重复测量，再引入真实轨迹和用户反馈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veriflow-final-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veriflow-final-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39f21692202f134.png"/>
  <Relationship Id="rId3" Type="http://schemas.openxmlformats.org/officeDocument/2006/relationships/image" Target="../media/image_aba22d3404edca33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6a171733737bef0.png"/>
  <Relationship Id="rId3" Type="http://schemas.openxmlformats.org/officeDocument/2006/relationships/image" Target="../media/image_3fbd4d1cc133c3d4.png"/>
  <Relationship Id="rId4" Type="http://schemas.openxmlformats.org/officeDocument/2006/relationships/image" Target="../media/image_cbed72c45a65539a.png"/>
  <Relationship Id="rId5" Type="http://schemas.openxmlformats.org/officeDocument/2006/relationships/image" Target="../media/image_3d9ca154091224b1.png"/>
  <Relationship Id="rId6" Type="http://schemas.openxmlformats.org/officeDocument/2006/relationships/image" Target="../media/image_cf7ee2d760301700.png"/>
  <Relationship Id="rId7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ba22d3404edca33.png"/>
  <Relationship Id="rId3" Type="http://schemas.openxmlformats.org/officeDocument/2006/relationships/notesSlide" Target="../notesSlides/notesSlide2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6381750" cy="6858000"/>
            </a:xfrm>
            <a:prstGeom prst="rect">
              <a:avLst/>
            </a:prstGeom>
            <a:solidFill>
              <a:schemeClr val="lt1">
                <a:alpha val="96000"/>
              </a:schemeClr>
            </a:soli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438150"/>
              <a:ext cx="552450" cy="552450"/>
            </a:xfrm>
            <a:prstGeom prst="rect">
              <a:avLst/>
            </a:prstGeom>
          </p:spPr>
        </p:pic>
        <p:grpSp>
          <p:nvGrpSpPr>
            <p:cNvPr id="16" name="Group 16"/>
            <p:cNvGrpSpPr/>
            <p:nvPr/>
          </p:nvGrpSpPr>
          <p:grpSpPr>
            <a:xfrm>
              <a:off x="533400" y="592455"/>
              <a:ext cx="5314950" cy="6012180"/>
              <a:chOff x="533400" y="592455"/>
              <a:chExt cx="5314950" cy="601218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257300" y="592455"/>
                <a:ext cx="1423321" cy="619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VeriFlow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533400" y="1657350"/>
                <a:ext cx="895350" cy="571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533400" y="1939290"/>
                <a:ext cx="5298567" cy="1419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AI 出题与工作流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33400" y="2720340"/>
                <a:ext cx="5026152" cy="1419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可核验、可追溯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52450" y="3644265"/>
                <a:ext cx="4495419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规格驱动验证 · 运行证据 · 受约束修复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2450" y="4314825"/>
                <a:ext cx="471678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面向出题质检与流程审核，将模型生成的节点图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52450" y="4600575"/>
                <a:ext cx="450684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转换为可检查的约束、反例证据与发布门禁。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552450" y="5086350"/>
                <a:ext cx="5295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95900" h="9525">
                    <a:moveTo>
                      <a:pt x="0" y="0"/>
                    </a:moveTo>
                    <a:lnTo>
                      <a:pt x="5295900" y="0"/>
                    </a:lnTo>
                  </a:path>
                </a:pathLst>
              </a:custGeom>
              <a:noFill/>
              <a:ln w="19050">
                <a:solidFill>
                  <a:schemeClr val="accent4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52450" y="5314950"/>
                <a:ext cx="381742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第八届 AIC 算法创新赛 · AI+软件创新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52450" y="6252210"/>
                <a:ext cx="3787807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评审阅读版 / 算法详解 / 20 页 / 2026 年 10 月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3"/>
          <p:cNvGrpSpPr/>
          <p:nvPr/>
        </p:nvGrpSpPr>
        <p:grpSpPr>
          <a:xfrm>
            <a:off x="533400" y="375285"/>
            <a:ext cx="11244548" cy="6340792"/>
            <a:chOff x="533400" y="375285"/>
            <a:chExt cx="11244548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8572881" cy="1392555"/>
              <a:chOff x="533400" y="375285"/>
              <a:chExt cx="8572881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753392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项目摘要 / 已实现能力与内部验证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847344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从工作流生成到修复、发布，再到程序判题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8572881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模型输出可编辑工作流；验证器给出问题、见证、修复决策与发布门禁。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533400" y="1819275"/>
              <a:ext cx="11125200" cy="3590925"/>
              <a:chOff x="533400" y="1819275"/>
              <a:chExt cx="11125200" cy="3590925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533400" y="1819275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19050">
                <a:solidFill>
                  <a:schemeClr val="accent4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533400" y="2034540"/>
                <a:ext cx="2879884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规格驱动的出题质检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33400" y="2419350"/>
                <a:ext cx="644556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自然语言要求与平台规则编译为 Spec；IR 描述实际节点与连接。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33400" y="2705100"/>
                <a:ext cx="583272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结构、语义、数据流、可达与安全五维检查输出统一证据。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33400" y="3168015"/>
                <a:ext cx="3134011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运行证据与受约束修复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33400" y="3552825"/>
                <a:ext cx="605370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模拟轨迹逐条验证时序义务，补足静态检查观察不到的故障。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33400" y="3838575"/>
                <a:ext cx="595198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规则或 AI 提出补丁；六阶段守卫筛选，拒绝无改善与回归。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33400" y="4301490"/>
                <a:ext cx="2338483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解题与工程交付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33400" y="4686300"/>
                <a:ext cx="551468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C++17 / Python3 沙箱、隐藏数据、对拍与失败反例。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3400" y="4972050"/>
                <a:ext cx="555421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提供 Web 演示、部署说明、核心算法代码与测试材料。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839075" y="2028825"/>
              <a:ext cx="3938873" cy="3552825"/>
              <a:chOff x="7839075" y="2028825"/>
              <a:chExt cx="3938873" cy="355282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7839075" y="2028825"/>
                <a:ext cx="3819525" cy="3552825"/>
              </a:xfrm>
              <a:prstGeom prst="roundRect">
                <a:avLst>
                  <a:gd name="adj" fmla="val 214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105775" y="2219325"/>
                <a:ext cx="347033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competition-v2 / 55 组内部案例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105775" y="2607945"/>
                <a:ext cx="1657731" cy="1152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39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1.000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058400" y="2838450"/>
                <a:ext cx="841724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检测 F1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05775" y="3322320"/>
                <a:ext cx="1765173" cy="1152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39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35/50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058400" y="3552825"/>
                <a:ext cx="9601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定位正确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105775" y="4036695"/>
                <a:ext cx="1765173" cy="1152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39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38/45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058400" y="4267200"/>
                <a:ext cx="171954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修复后静态PASS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05775" y="4829175"/>
                <a:ext cx="266928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5 组正常 + 50 组注入故障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105775" y="5114925"/>
                <a:ext cx="336499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5 条运行专有故障不进入修复分母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533400" y="5695950"/>
              <a:ext cx="6716649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主要算法：图路径搜索、时序监视、轨迹对齐、候选筛选与增量复验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29" name="Line 29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33400" y="6401752"/>
                <a:ext cx="8209598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依据：docs/contest；experiments/runs/competition/metrics.json（2026-09-19）；结果不代表开放世界准确率。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/>
          <p:cNvGrpSpPr/>
          <p:nvPr/>
        </p:nvGrpSpPr>
        <p:grpSpPr>
          <a:xfrm>
            <a:off x="533400" y="375285"/>
            <a:ext cx="11182826" cy="6340792"/>
            <a:chOff x="533400" y="375285"/>
            <a:chExt cx="11182826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9622536" cy="1392555"/>
              <a:chOff x="533400" y="375285"/>
              <a:chExt cx="9622536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211991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问题与定位 / 评分证据组织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8775382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检查 AI 工作流的缺步骤、错连接与运行中断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9622536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生成的流程可能缺步骤、连错数据或执行中断；一次模型自评难以给出稳定证据。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33400" y="1819275"/>
              <a:ext cx="11125200" cy="3448050"/>
              <a:chOff x="533400" y="1819275"/>
              <a:chExt cx="11125200" cy="34480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819275"/>
                <a:ext cx="11125200" cy="4667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704850" y="1971675"/>
                <a:ext cx="8614410" cy="438150"/>
                <a:chOff x="704850" y="1971675"/>
                <a:chExt cx="8614410" cy="438150"/>
              </a:xfrm>
            </p:grpSpPr>
            <p:sp>
              <p:nvSpPr>
                <p:cNvPr id="7" name="TextBox 7"/>
                <p:cNvSpPr txBox="1"/>
                <p:nvPr/>
              </p:nvSpPr>
              <p:spPr>
                <a:xfrm>
                  <a:off x="704850" y="1971675"/>
                  <a:ext cx="97116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实际风险</a:t>
                  </a:r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3371850" y="1971675"/>
                  <a:ext cx="199005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VeriFlow 检查机制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7696200" y="1971675"/>
                  <a:ext cx="162306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评委可复核产物</a:t>
                  </a:r>
                </a:p>
              </p:txBody>
            </p:sp>
          </p:grpSp>
          <p:sp>
            <p:nvSpPr>
              <p:cNvPr id="11" name="Rectangle 11"/>
              <p:cNvSpPr/>
              <p:nvPr/>
            </p:nvSpPr>
            <p:spPr>
              <a:xfrm>
                <a:off x="533400" y="2286000"/>
                <a:ext cx="11125200" cy="77152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33400" y="3829050"/>
                <a:ext cx="11125200" cy="77152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704850" y="2476500"/>
                <a:ext cx="10172319" cy="2752725"/>
                <a:chOff x="704850" y="2476500"/>
                <a:chExt cx="10172319" cy="2752725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704850" y="2476500"/>
                  <a:ext cx="206502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缺失审核或必需动作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3371850" y="2476500"/>
                  <a:ext cx="3026664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动作数量检查 + 绕过路径 BFS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696200" y="2476500"/>
                  <a:ext cx="27390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缺失动作、节点与见证路径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704850" y="3248025"/>
                  <a:ext cx="230809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数据连接与类型不一致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3371850" y="3248025"/>
                  <a:ext cx="3033712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生产者可达性 + 边级类型检查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7696200" y="3248025"/>
                  <a:ext cx="252907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期望／实际类型、关联边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704850" y="4019550"/>
                  <a:ext cx="229704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图完整，执行轨迹中断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3371850" y="4019550"/>
                  <a:ext cx="2591752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时序义务监视 + 轨迹对齐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7696200" y="4019550"/>
                  <a:ext cx="318096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事件位置、缺失动作、轨迹片段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04850" y="4791075"/>
                  <a:ext cx="207606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自动修复引入新风险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3371850" y="4791075"/>
                  <a:ext cx="333937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补丁守卫 + 全量复验 + 回归拒绝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696200" y="4791075"/>
                  <a:ext cx="295998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补丁、候选拒绝原因、图差异</a:t>
                  </a:r>
                </a:p>
              </p:txBody>
            </p:sp>
          </p:grpSp>
          <p:sp>
            <p:nvSpPr>
              <p:cNvPr id="26" name="Line 26"/>
              <p:cNvSpPr/>
              <p:nvPr/>
            </p:nvSpPr>
            <p:spPr>
              <a:xfrm>
                <a:off x="533400" y="52578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533400" y="5524500"/>
              <a:ext cx="9058180" cy="733425"/>
              <a:chOff x="533400" y="5524500"/>
              <a:chExt cx="9058180" cy="733425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533400" y="5524500"/>
                <a:ext cx="9601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评分对应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752600" y="5524500"/>
                <a:ext cx="723728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创新性 20：验证与修复闭环　技术 20：算法实现　功能 20：双角色产品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752600" y="5819775"/>
                <a:ext cx="783898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方案 20：需求至部署证据　应用 15：出题质检与 CI　展望 5：边界与后续验证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32" name="Line 32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33400" y="6401752"/>
                <a:ext cx="6561487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依据：赛题评分规则 aicomp.cn/tracks/tracks-2/3792.html；仓库 golden 案例与验证模块。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2"/>
          <p:cNvGrpSpPr/>
          <p:nvPr/>
        </p:nvGrpSpPr>
        <p:grpSpPr>
          <a:xfrm>
            <a:off x="533400" y="375285"/>
            <a:ext cx="11191494" cy="6340792"/>
            <a:chOff x="533400" y="375285"/>
            <a:chExt cx="11191494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9092184" cy="1392555"/>
              <a:chOff x="533400" y="375285"/>
              <a:chExt cx="9092184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576608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产品闭环 / 出题与解题两条路径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67056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两条流程覆盖出题质检与程序判题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9092184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出题者检查工作流并决定是否发布；解题者提交代码，查看判题结果与反例。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" y="1853565"/>
              <a:ext cx="11125200" cy="1918335"/>
              <a:chOff x="533400" y="1853565"/>
              <a:chExt cx="11125200" cy="191833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33400" y="1853565"/>
                <a:ext cx="871728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出题者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533400" y="2266950"/>
                <a:ext cx="11125200" cy="15049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419350" y="2400300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742950" y="2533650"/>
                <a:ext cx="10058400" cy="438150"/>
                <a:chOff x="742950" y="2533650"/>
                <a:chExt cx="10058400" cy="438150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742950" y="2533650"/>
                  <a:ext cx="162306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需求与题目规格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2857500" y="2533650"/>
                  <a:ext cx="1486757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生成／编辑 IR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5010150" y="2533650"/>
                  <a:ext cx="162306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静态＋运行验证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7391400" y="2533650"/>
                  <a:ext cx="11811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受约束修复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9620250" y="2533650"/>
                  <a:ext cx="11811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门禁与入库</a:t>
                  </a: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742950" y="2943225"/>
                <a:ext cx="10351579" cy="790575"/>
                <a:chOff x="742950" y="2943225"/>
                <a:chExt cx="10351579" cy="790575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742950" y="2943225"/>
                  <a:ext cx="141312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自然语言要求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2857500" y="2943225"/>
                  <a:ext cx="184404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节点、边、表达式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5010150" y="2943225"/>
                  <a:ext cx="16341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问题列表与轨迹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7391400" y="2943225"/>
                  <a:ext cx="119214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补丁与差异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9620250" y="2943225"/>
                  <a:ext cx="147427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READY／拦截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742950" y="3295650"/>
                  <a:ext cx="16341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动作与时序约束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2857500" y="3295650"/>
                  <a:ext cx="164515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模型提案可修改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010150" y="3295650"/>
                  <a:ext cx="184404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审核门／范围守卫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391400" y="3295650"/>
                  <a:ext cx="162306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拒绝则保留原图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9620250" y="3295650"/>
                  <a:ext cx="11811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审核后发布</a:t>
                  </a:r>
                </a:p>
              </p:txBody>
            </p:sp>
          </p:grpSp>
        </p:grpSp>
        <p:grpSp>
          <p:nvGrpSpPr>
            <p:cNvPr id="46" name="Group 46"/>
            <p:cNvGrpSpPr/>
            <p:nvPr/>
          </p:nvGrpSpPr>
          <p:grpSpPr>
            <a:xfrm>
              <a:off x="533400" y="4091940"/>
              <a:ext cx="10941939" cy="1680210"/>
              <a:chOff x="533400" y="4091940"/>
              <a:chExt cx="10941939" cy="168021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533400" y="4091940"/>
                <a:ext cx="871728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解题者</a:t>
                </a:r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2419350" y="4448175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3"/>
                </a:solidFill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742950" y="4581525"/>
                <a:ext cx="10069449" cy="438150"/>
                <a:chOff x="742950" y="4581525"/>
                <a:chExt cx="10069449" cy="438150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742950" y="4581525"/>
                  <a:ext cx="11811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选题与样例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2857500" y="4581525"/>
                  <a:ext cx="97116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提交代码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5010150" y="4581525"/>
                  <a:ext cx="1368933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Docker 沙箱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391400" y="4581525"/>
                  <a:ext cx="162306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隐藏数据／对拍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620250" y="4581525"/>
                  <a:ext cx="119214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反例与反馈</a:t>
                  </a:r>
                </a:p>
              </p:txBody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742950" y="4981575"/>
                <a:ext cx="10732389" cy="790575"/>
                <a:chOff x="742950" y="4981575"/>
                <a:chExt cx="10732389" cy="790575"/>
              </a:xfrm>
            </p:grpSpPr>
            <p:sp>
              <p:nvSpPr>
                <p:cNvPr id="35" name="TextBox 35"/>
                <p:cNvSpPr txBox="1"/>
                <p:nvPr/>
              </p:nvSpPr>
              <p:spPr>
                <a:xfrm>
                  <a:off x="742950" y="4981575"/>
                  <a:ext cx="16341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读取题面与数据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2857500" y="4981575"/>
                  <a:ext cx="1909477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C++17／Python3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5010150" y="4981575"/>
                  <a:ext cx="164515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编译、限时执行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391400" y="4981575"/>
                  <a:ext cx="164515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期望与实际比较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9620250" y="4981575"/>
                  <a:ext cx="185508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输入、输出、来源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42950" y="5334000"/>
                  <a:ext cx="206502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样例通过不等于正确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2857500" y="5334000"/>
                  <a:ext cx="141312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统一任务接口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5010150" y="5334000"/>
                  <a:ext cx="207606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隔离运行与资源约束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7391400" y="5334000"/>
                  <a:ext cx="142417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保留失败分类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9620250" y="5334000"/>
                  <a:ext cx="162306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按证据重新提交</a:t>
                  </a:r>
                </a:p>
              </p:txBody>
            </p:sp>
          </p:grpSp>
        </p:grpSp>
        <p:sp>
          <p:nvSpPr>
            <p:cNvPr id="47" name="TextBox 47"/>
            <p:cNvSpPr txBox="1"/>
            <p:nvPr/>
          </p:nvSpPr>
          <p:spPr>
            <a:xfrm>
              <a:off x="533400" y="5810250"/>
              <a:ext cx="913638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共同产物：验证报告、执行记录、问题证据与可复核决策；流程图存在不等于实际执行完成。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533400" y="6248400"/>
              <a:ext cx="11191494" cy="467677"/>
              <a:chOff x="533400" y="6248400"/>
              <a:chExt cx="11191494" cy="467677"/>
            </a:xfrm>
          </p:grpSpPr>
          <p:sp>
            <p:nvSpPr>
              <p:cNvPr id="48" name="Line 48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533400" y="6401752"/>
                <a:ext cx="7165372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依据：docs/contest/02-功能设计.md、03-产品说明书.md；packages/verify、runtime、sandbox。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458575" y="6401752"/>
                <a:ext cx="266319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9"/>
          <p:cNvGrpSpPr/>
          <p:nvPr/>
        </p:nvGrpSpPr>
        <p:grpSpPr>
          <a:xfrm>
            <a:off x="533400" y="375285"/>
            <a:ext cx="11182826" cy="6340792"/>
            <a:chOff x="533400" y="375285"/>
            <a:chExt cx="11182826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9919335" cy="1392555"/>
              <a:chOff x="533400" y="375285"/>
              <a:chExt cx="9919335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628519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技术架构 / AI 模块与确定性内核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8931497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模型生成 JSON，后端完成验证、模拟与修复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9919335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前端编辑与展示流程；后端接收 IR 和 Spec，返回验证报告、运行记录及修复结果。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33400" y="1866900"/>
              <a:ext cx="6572250" cy="4095750"/>
              <a:chOff x="533400" y="1866900"/>
              <a:chExt cx="657225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866900"/>
                <a:ext cx="6572250" cy="685800"/>
              </a:xfrm>
              <a:prstGeom prst="roundRect">
                <a:avLst>
                  <a:gd name="adj" fmla="val 8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42950" y="1977390"/>
                <a:ext cx="1694974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Next.js Web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42950" y="2266950"/>
                <a:ext cx="493776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需求编辑、节点图、证据工作台、修复与基准页面</a:t>
                </a:r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3810000" y="25527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33400" y="2781300"/>
                <a:ext cx="6572250" cy="685800"/>
              </a:xfrm>
              <a:prstGeom prst="roundRect">
                <a:avLst>
                  <a:gd name="adj" fmla="val 8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42950" y="2901315"/>
                <a:ext cx="3211544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FastAPI / 结构化任务接口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42950" y="3200400"/>
                <a:ext cx="529494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IR / Spec → 检查、模拟、修复 → 报告 / GateResult</a:t>
                </a:r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3810000" y="34671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33400" y="3695700"/>
                <a:ext cx="6572250" cy="1133475"/>
              </a:xfrm>
              <a:prstGeom prst="roundRect">
                <a:avLst>
                  <a:gd name="adj" fmla="val 504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42950" y="3815715"/>
                <a:ext cx="2965704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Python 验证与修复内核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42950" y="4171950"/>
                <a:ext cx="599151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ir / spec / staticcheck / verify / runtime / explain / repair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42950" y="4457700"/>
                <a:ext cx="5247513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共享数据模型；保留版本、约束 ID、节点与见证路径</a:t>
                </a:r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3810000" y="4829175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33400" y="5057775"/>
                <a:ext cx="6572250" cy="790575"/>
              </a:xfrm>
              <a:prstGeom prst="roundRect">
                <a:avLst>
                  <a:gd name="adj" fmla="val 722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42950" y="5187315"/>
                <a:ext cx="1402080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执行与存储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2950" y="5524500"/>
                <a:ext cx="511892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沙箱：提交判题　SQLite：任务与验证记录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419975" y="1866900"/>
              <a:ext cx="4016502" cy="3981450"/>
              <a:chOff x="7419975" y="1866900"/>
              <a:chExt cx="4016502" cy="3981450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7419975" y="1866900"/>
                <a:ext cx="9525" cy="398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81450">
                    <a:moveTo>
                      <a:pt x="0" y="0"/>
                    </a:moveTo>
                    <a:lnTo>
                      <a:pt x="0" y="398145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96200" y="1986915"/>
                <a:ext cx="1780508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AI 的使用位置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696200" y="2428875"/>
                <a:ext cx="311277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DeepSeek / OpenAI 兼容接口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96200" y="2714625"/>
                <a:ext cx="318096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用于工作流生成、可选修复提案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96200" y="3000375"/>
                <a:ext cx="31699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与解题教练；调用记录可追溯。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96200" y="3587115"/>
                <a:ext cx="1932432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选择与判定边界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96200" y="3990975"/>
                <a:ext cx="318096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兼容接口便于替换模型与配置。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96200" y="4276725"/>
                <a:ext cx="374027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Spec 默认编译器使用关键词／模板。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96200" y="4562475"/>
                <a:ext cx="362292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模型输出先校验结构，再运行规则。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96200" y="4848225"/>
                <a:ext cx="273900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模型评分不作为发布门禁。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96200" y="5133975"/>
                <a:ext cx="361188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无密钥时可运行确定性案例与修复。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35" name="Line 35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33400" y="6401752"/>
                <a:ext cx="8137493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依据：docs/CURRENT_ARCHITECTURE.md；services/api；packages/spec/compiler.py、repair/ai_planner.py。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9"/>
          <p:cNvGrpSpPr/>
          <p:nvPr/>
        </p:nvGrpSpPr>
        <p:grpSpPr>
          <a:xfrm>
            <a:off x="533400" y="375285"/>
            <a:ext cx="11182826" cy="6340792"/>
            <a:chOff x="533400" y="375285"/>
            <a:chExt cx="11182826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9622536" cy="1392555"/>
              <a:chOff x="533400" y="375285"/>
              <a:chExt cx="9622536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930176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核心数据结构 / 要求与实现分开表达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8029575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Spec 规定要求，IR 描述实际节点与连接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9622536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同一需求可对应不同流程图；核验的是图是否满足显式约束，而非图像是否相似。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533400" y="1777365"/>
              <a:ext cx="5410105" cy="4128135"/>
              <a:chOff x="533400" y="1777365"/>
              <a:chExt cx="5410105" cy="412813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33400" y="1777365"/>
                <a:ext cx="3909917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WorkflowSpec / 应当发生什么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533400" y="2143125"/>
                <a:ext cx="5353050" cy="2571750"/>
              </a:xfrm>
              <a:prstGeom prst="roundRect">
                <a:avLst>
                  <a:gd name="adj" fmla="val 222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04850" y="2264092"/>
                <a:ext cx="248192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"required_actions": [{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04850" y="2521268"/>
                <a:ext cx="390344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"id":"review", "kind":"human_gate",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04850" y="2778442"/>
                <a:ext cx="357530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"cardinality":"at_least_one" }],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04850" y="3035618"/>
                <a:ext cx="291922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"ordering_constraints": [{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04850" y="3292792"/>
                <a:ext cx="3684746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"id":"o1", "before":"human_gate",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04850" y="3549968"/>
                <a:ext cx="3247263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"after":"publish_problem" }],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04850" y="3807142"/>
                <a:ext cx="357530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"safety_policies": [{ "id":"p1",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04850" y="4064318"/>
                <a:ext cx="33567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"kind":"require_human_gate" }]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400" y="4895850"/>
                <a:ext cx="541010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另含 data_dependencies 与 temporal_constraints。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33400" y="5181600"/>
                <a:ext cx="487908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source_traces 记录约束对应的需求或平台政策。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3400" y="5467350"/>
                <a:ext cx="5221224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默认 compiler=heuristic，采用关键词／领域模板。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191250" y="1777365"/>
              <a:ext cx="5467350" cy="4128135"/>
              <a:chOff x="6191250" y="1777365"/>
              <a:chExt cx="5467350" cy="4128135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191250" y="1777365"/>
                <a:ext cx="3545586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WorkflowIR / 实际如何连接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6191250" y="2143125"/>
                <a:ext cx="5467350" cy="2571750"/>
              </a:xfrm>
              <a:prstGeom prst="roundRect">
                <a:avLst>
                  <a:gd name="adj" fmla="val 222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372225" y="2264092"/>
                <a:ext cx="116967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"nodes": [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72225" y="2521268"/>
                <a:ext cx="302866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{"id":"gen", "kind":"tool",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72225" y="2778442"/>
                <a:ext cx="280997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"tool":"test_generator"},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372225" y="3035618"/>
                <a:ext cx="302866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{"id":"pub", "kind":"tool",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372225" y="3292792"/>
                <a:ext cx="280997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"tool":"publish_problem"}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372225" y="3549968"/>
                <a:ext cx="29489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],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372225" y="3807142"/>
                <a:ext cx="412203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"edges": [{"from":"gen", "to":"pub"}]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372225" y="4064318"/>
                <a:ext cx="339852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// 缩略字段；此连接绕过了人工审核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191250" y="4895850"/>
                <a:ext cx="527427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节点还可含 expr、on_fail、输入／输出类型与配置。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191250" y="5181600"/>
                <a:ext cx="516493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Pydantic 拒绝多余字段、重复 ID 和未知节点引用。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191250" y="5467350"/>
                <a:ext cx="484517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Spec 查互逆顺序、未知选择器引用和数量冲突。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533400" y="5838825"/>
              <a:ext cx="10327767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数据流：需求 → compile_spec → check_spec；生成 JSON → WorkflowIR 校验 → verify_workflow。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35" name="Line 35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33400" y="6401752"/>
                <a:ext cx="8127302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依据：packages/spec/veriflow_spec/{models,compiler,consistency}.py；packages/ir/veriflow_ir/workflow.py。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06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2"/>
          <p:cNvGrpSpPr/>
          <p:nvPr/>
        </p:nvGrpSpPr>
        <p:grpSpPr>
          <a:xfrm>
            <a:off x="533400" y="375285"/>
            <a:ext cx="11658600" cy="6340792"/>
            <a:chOff x="533400" y="375285"/>
            <a:chExt cx="11658600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9502045" cy="1402080"/>
              <a:chOff x="533400" y="375285"/>
              <a:chExt cx="9502045" cy="1402080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576608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核心算法 / 验证调度与统一结果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803148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五类检查返回统一的问题列表和约束结果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9502045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collect_issues 调度检查，assemble_result 汇总约束判定、严重度与关联证据。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1809750"/>
              <a:ext cx="11658600" cy="3114675"/>
              <a:chOff x="533400" y="1809750"/>
              <a:chExt cx="11658600" cy="311467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809750"/>
                <a:ext cx="11125200" cy="4000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704850" y="1914525"/>
                <a:ext cx="8065389" cy="438150"/>
                <a:chOff x="704850" y="1914525"/>
                <a:chExt cx="8065389" cy="438150"/>
              </a:xfrm>
            </p:grpSpPr>
            <p:sp>
              <p:nvSpPr>
                <p:cNvPr id="7" name="TextBox 7"/>
                <p:cNvSpPr txBox="1"/>
                <p:nvPr/>
              </p:nvSpPr>
              <p:spPr>
                <a:xfrm>
                  <a:off x="704850" y="1914525"/>
                  <a:ext cx="5292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维度</a:t>
                  </a:r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2305050" y="1914525"/>
                  <a:ext cx="97116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检查事实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6915150" y="1914525"/>
                  <a:ext cx="185508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代表性错误／输出</a:t>
                  </a:r>
                </a:p>
              </p:txBody>
            </p:sp>
          </p:grpSp>
          <p:sp>
            <p:nvSpPr>
              <p:cNvPr id="11" name="Rectangle 11"/>
              <p:cNvSpPr/>
              <p:nvPr/>
            </p:nvSpPr>
            <p:spPr>
              <a:xfrm>
                <a:off x="533400" y="2209800"/>
                <a:ext cx="11125200" cy="5238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33400" y="3257550"/>
                <a:ext cx="11125200" cy="5238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33400" y="4305300"/>
                <a:ext cx="11125200" cy="5238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704850" y="2390775"/>
                <a:ext cx="11487150" cy="2533650"/>
                <a:chOff x="704850" y="2390775"/>
                <a:chExt cx="11487150" cy="2533650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704850" y="2390775"/>
                  <a:ext cx="5292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结构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2305050" y="2390775"/>
                  <a:ext cx="405384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节点关系、环路、守卫表达式与失败分支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6915150" y="2390775"/>
                  <a:ext cx="3131915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环路见证 / MISSING_ON_FAIL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704850" y="2914650"/>
                  <a:ext cx="5292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语义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2305050" y="2914650"/>
                  <a:ext cx="405384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必需动作数量与所有发布路径的前置关系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6915150" y="2914650"/>
                  <a:ext cx="527685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MISSING_REQUIRED_ACTION / ORDER_VIOLATION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704850" y="3438525"/>
                  <a:ext cx="76123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数据流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2305050" y="3438525"/>
                  <a:ext cx="38439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生产者到消费者可达、相邻边类型匹配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6915150" y="3438525"/>
                  <a:ext cx="4079557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BROKEN_BINDING / TYPE_MISMATCH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04850" y="3962400"/>
                  <a:ext cx="5292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可达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305050" y="3962400"/>
                  <a:ext cx="294894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节点能否沿有向路径到达终点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6915150" y="3962400"/>
                  <a:ext cx="2618327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DEAD_NODE + 关联节点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04850" y="4486275"/>
                  <a:ext cx="5292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安全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2305050" y="4486275"/>
                  <a:ext cx="318096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审核门、范围、凭据与外发策略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6915150" y="4486275"/>
                  <a:ext cx="5198745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MISSING_HUMAN_GATE / HARDCODED_SECRET</a:t>
                  </a:r>
                </a:p>
              </p:txBody>
            </p:sp>
          </p:grpSp>
        </p:grpSp>
        <p:grpSp>
          <p:nvGrpSpPr>
            <p:cNvPr id="37" name="Group 37"/>
            <p:cNvGrpSpPr/>
            <p:nvPr/>
          </p:nvGrpSpPr>
          <p:grpSpPr>
            <a:xfrm>
              <a:off x="533400" y="5076825"/>
              <a:ext cx="11401330" cy="1019175"/>
              <a:chOff x="533400" y="5076825"/>
              <a:chExt cx="11401330" cy="1019175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533400" y="5076825"/>
                <a:ext cx="163410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状态汇总优先级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33400" y="5388292"/>
                <a:ext cx="455952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failed_constraint or HIGH/CRITICAL → FAIL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33400" y="5664518"/>
                <a:ext cx="62007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else issues → WARNING; else unknown → UNKNOWN; else PASS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896100" y="5076825"/>
                <a:ext cx="166687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统一 Issue 对象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896100" y="5372100"/>
                <a:ext cx="503863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code / severity / constraint_id / affected_nodes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896100" y="5657850"/>
                <a:ext cx="464477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expected / actual / witness_path / evidence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38" name="Line 38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33400" y="6401752"/>
                <a:ext cx="7862506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依据：packages/verify/veriflow_verify/result.py；五维是问题分类，共用部分底层图检查，并非五个独立模型。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07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2"/>
          <p:cNvGrpSpPr/>
          <p:nvPr/>
        </p:nvGrpSpPr>
        <p:grpSpPr>
          <a:xfrm>
            <a:off x="533400" y="375285"/>
            <a:ext cx="11182826" cy="6340792"/>
            <a:chOff x="533400" y="375285"/>
            <a:chExt cx="11182826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9622536" cy="1392555"/>
              <a:chOff x="533400" y="375285"/>
              <a:chExt cx="9622536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211991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图算法 / 审核门与环路见证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72049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屏蔽审核节点后，BFS 寻找绕过路径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9622536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若去掉审核节点后仍能从源节点到达发布节点，就得到一条违反前置要求的路径。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33400" y="1796415"/>
              <a:ext cx="4953000" cy="3909060"/>
              <a:chOff x="533400" y="1796415"/>
              <a:chExt cx="4953000" cy="390906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33400" y="1796415"/>
                <a:ext cx="3806762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反例图 / 存在审核门仍可能绕过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476375" y="2505075"/>
                <a:ext cx="3276600" cy="876300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876300">
                    <a:moveTo>
                      <a:pt x="0" y="371475"/>
                    </a:moveTo>
                    <a:lnTo>
                      <a:pt x="1590675" y="371475"/>
                    </a:lnTo>
                    <a:lnTo>
                      <a:pt x="1590675" y="0"/>
                    </a:lnTo>
                    <a:lnTo>
                      <a:pt x="3276600" y="0"/>
                    </a:lnTo>
                    <a:moveTo>
                      <a:pt x="1590675" y="371475"/>
                    </a:moveTo>
                    <a:lnTo>
                      <a:pt x="1590675" y="876300"/>
                    </a:lnTo>
                    <a:lnTo>
                      <a:pt x="3276600" y="876300"/>
                    </a:lnTo>
                  </a:path>
                </a:pathLst>
              </a:custGeom>
              <a:noFill/>
              <a:ln w="28575">
                <a:solidFill>
                  <a:schemeClr val="accent4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666750" y="2571750"/>
                <a:ext cx="1562100" cy="619125"/>
              </a:xfrm>
              <a:prstGeom prst="roundRect">
                <a:avLst>
                  <a:gd name="adj" fmla="val 9231"/>
                </a:avLst>
              </a:prstGeom>
              <a:solidFill>
                <a:schemeClr val="lt2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867150" y="2181225"/>
                <a:ext cx="1619250" cy="619125"/>
              </a:xfrm>
              <a:prstGeom prst="roundRect">
                <a:avLst>
                  <a:gd name="adj" fmla="val 9231"/>
                </a:avLst>
              </a:prstGeom>
              <a:solidFill>
                <a:schemeClr val="lt2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3867150" y="3105150"/>
                <a:ext cx="1619250" cy="619125"/>
              </a:xfrm>
              <a:prstGeom prst="roundRect">
                <a:avLst>
                  <a:gd name="adj" fmla="val 9231"/>
                </a:avLst>
              </a:prstGeom>
              <a:solidFill>
                <a:schemeClr val="lt2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62025" y="2781300"/>
                <a:ext cx="121843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gen 生成器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124325" y="2400300"/>
                <a:ext cx="1275874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review 审核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162425" y="3324225"/>
                <a:ext cx="100203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pub 发布</a:t>
                </a:r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4686300" y="280035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228850" y="2933700"/>
                <a:ext cx="1638300" cy="485775"/>
              </a:xfrm>
              <a:custGeom>
                <a:avLst/>
                <a:gdLst/>
                <a:ahLst/>
                <a:cxnLst/>
                <a:rect l="l" t="t" r="r" b="b"/>
                <a:pathLst>
                  <a:path w="1638300" h="485775">
                    <a:moveTo>
                      <a:pt x="0" y="0"/>
                    </a:moveTo>
                    <a:lnTo>
                      <a:pt x="666750" y="0"/>
                    </a:lnTo>
                    <a:lnTo>
                      <a:pt x="666750" y="485775"/>
                    </a:lnTo>
                    <a:lnTo>
                      <a:pt x="1638300" y="485775"/>
                    </a:lnTo>
                  </a:path>
                </a:pathLst>
              </a:custGeom>
              <a:noFill/>
              <a:ln w="47625">
                <a:solidFill>
                  <a:srgbClr val="C05B55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3952875" y="2276475"/>
                <a:ext cx="1428750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409575">
                    <a:moveTo>
                      <a:pt x="0" y="0"/>
                    </a:moveTo>
                    <a:lnTo>
                      <a:pt x="1428750" y="409575"/>
                    </a:lnTo>
                  </a:path>
                </a:pathLst>
              </a:custGeom>
              <a:noFill/>
              <a:ln w="28575">
                <a:solidFill>
                  <a:srgbClr val="C05B55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66750" y="3914775"/>
                <a:ext cx="443426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rgbClr val="A74741"/>
                    </a:solidFill>
                    <a:latin typeface="+mn-lt"/>
                    <a:ea typeface="+mn-ea"/>
                    <a:cs typeface="+mn-cs"/>
                  </a:rPr>
                  <a:t>屏蔽 review 后仍有 gen → pub：判定失败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3400" y="4410075"/>
                <a:ext cx="442798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1. 收集 human_gate，作为 blocked 集合。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33400" y="4695825"/>
                <a:ext cx="389953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2. 从原图入度为 0 的非屏蔽节点出发。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33400" y="4981575"/>
                <a:ext cx="418766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3. BFS 跳过 blocked；parent 保存前驱。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33400" y="5267325"/>
                <a:ext cx="419090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4. 命中目标后回溯，输出 witness_path。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191250" y="1809750"/>
              <a:ext cx="5467350" cy="4333875"/>
              <a:chOff x="6191250" y="1809750"/>
              <a:chExt cx="5467350" cy="43338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191250" y="1809750"/>
                <a:ext cx="5467350" cy="2724150"/>
              </a:xfrm>
              <a:prstGeom prst="roundRect">
                <a:avLst>
                  <a:gd name="adj" fmla="val 2098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391275" y="1948815"/>
                <a:ext cx="3329273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bypass_path / 核心伪代码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391275" y="2349818"/>
                <a:ext cx="2700528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Q ← sources(G) − blocked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391275" y="2606992"/>
                <a:ext cx="950976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while Q: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391275" y="2864168"/>
                <a:ext cx="1716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u ← pop_left(Q)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391275" y="3121342"/>
                <a:ext cx="466877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if u == target: return backtrack(parent,u)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391275" y="3378518"/>
                <a:ext cx="237248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for v in outgoing[u]: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391275" y="3635692"/>
                <a:ext cx="423148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if v not in blocked and v not in seen: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391275" y="3892868"/>
                <a:ext cx="412203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parent[v] ← u; seen.add(v); Q.push(v)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91275" y="4150042"/>
                <a:ext cx="128016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return None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1250" y="4758690"/>
                <a:ext cx="3260407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cycle_witness / 三色 DFS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191250" y="5133975"/>
                <a:ext cx="448094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WHITE 未访；GRAY 在栈；BLACK 已完成。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191250" y="5419725"/>
                <a:ext cx="470706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遇到指向 GRAY 的边，用 parent 回溯闭合环。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191250" y="5705475"/>
                <a:ext cx="457781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BFS 与 DFS：时间 O(V+E)，辅助空间 O(V)。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38" name="Line 38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33400" y="6401752"/>
                <a:ext cx="7803737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依据：packages/ir/veriflow_ir/graph.py：bypass_path、cycle_witness；图为算法示意，真实案例见第15页。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08</a:t>
                </a: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533400" y="375285"/>
            <a:ext cx="11191113" cy="6340792"/>
            <a:chOff x="533400" y="375285"/>
            <a:chExt cx="11191113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9887712" cy="1392555"/>
              <a:chOff x="533400" y="375285"/>
              <a:chExt cx="9887712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576608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核心规则 / 语义、数据流与安全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758952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不同规则检查数量、路径、类型与策略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9887712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必需动作、节点关系、数据类型和配置策略分别检查；报告说明期望值和实际发现。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3400" y="1815465"/>
              <a:ext cx="5295900" cy="4051935"/>
              <a:chOff x="533400" y="1815465"/>
              <a:chExt cx="5295900" cy="405193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33400" y="1815465"/>
                <a:ext cx="3788664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语义：选择器匹配＋数量＋顺序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533400" y="2238375"/>
                <a:ext cx="486908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match_nodes 可按节点 id、kind 或 tool 匹配。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33400" y="2524125"/>
                <a:ext cx="508692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at_least_one 要求数量≥1；exactly_one 要求=1。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33400" y="2809875"/>
                <a:ext cx="472782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顺序要求检查是否有绕过前置节点的目标路径；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33400" y="3095625"/>
                <a:ext cx="471678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无绕过时，再确认前置节点确实能够到达目标。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33400" y="3552825"/>
                <a:ext cx="5295900" cy="6667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04850" y="3683318"/>
                <a:ext cx="3467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count(match("human_gate")) == 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04850" y="3940492"/>
                <a:ext cx="446227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→ MISSING_REQUIRED_ACTION / expected ≥ 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33400" y="4444365"/>
                <a:ext cx="3534537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数据流：依赖存在与相邻类型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3400" y="4857750"/>
                <a:ext cx="44958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生产者与消费者之间至少存在一条有向路径。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400" y="5143500"/>
                <a:ext cx="492328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边两端均声明类型时，比较 out_type / in_type。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33400" y="5429250"/>
                <a:ext cx="490032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例：object → string，输出 TYPE_MISMATCH。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067425" y="1809750"/>
              <a:ext cx="5657088" cy="4057650"/>
              <a:chOff x="6067425" y="1809750"/>
              <a:chExt cx="5657088" cy="4057650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6067425" y="1809750"/>
                <a:ext cx="9525" cy="4048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25">
                    <a:moveTo>
                      <a:pt x="0" y="0"/>
                    </a:moveTo>
                    <a:lnTo>
                      <a:pt x="0" y="4048125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334125" y="1815465"/>
                <a:ext cx="3258312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安全：配置扫描＋领域策略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34125" y="2238375"/>
                <a:ext cx="44958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工具名按领域白名单检查，非法工具被拒绝。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34125" y="2524125"/>
                <a:ext cx="4594003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凭据键识别 api_key / token / password 等。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34125" y="2809875"/>
                <a:ext cx="539038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非空字符串且非环境引用 → HARDCODED_SECRET。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34125" y="3095625"/>
                <a:ext cx="439740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外发 URL 与范围守卫按政策／关键词检查。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334125" y="3552825"/>
                <a:ext cx="5324475" cy="6667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505575" y="3683318"/>
                <a:ext cx="412203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config.api_key = "literal" → CRITICAL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505575" y="3940492"/>
                <a:ext cx="4491228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config.api_key = "env:API_KEY" → 引用形式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334125" y="4444365"/>
                <a:ext cx="1667256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rgbClr val="C05B55"/>
                    </a:solidFill>
                    <a:latin typeface="+mn-lt"/>
                    <a:ea typeface="+mn-ea"/>
                    <a:cs typeface="+mn-cs"/>
                  </a:rPr>
                  <a:t>当前检查边界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334125" y="4857750"/>
                <a:ext cx="530961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类型检查比较顶层 type，未证明完整 schema 兼容。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334125" y="5143500"/>
                <a:ext cx="405384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路径存在不能证明字段值实际正确传递。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334125" y="5429250"/>
                <a:ext cx="44958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安全扫描不等同污点分析或形式化安全证明。</a:t>
                </a: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533400" y="5819775"/>
              <a:ext cx="9137904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结果保留 expected / actual / affected_nodes / constraint_id，供定位、解释与修复共用。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33400" y="6401752"/>
                <a:ext cx="6763798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依据：verify/semantic.py、safety.py；staticcheck/check.py、whitelist.py；完整路径见备注。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09</a:t>
                </a: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3"/>
          <p:cNvGrpSpPr/>
          <p:nvPr/>
        </p:nvGrpSpPr>
        <p:grpSpPr>
          <a:xfrm>
            <a:off x="533400" y="375285"/>
            <a:ext cx="11232166" cy="6340792"/>
            <a:chOff x="533400" y="375285"/>
            <a:chExt cx="11232166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9799320" cy="1402080"/>
              <a:chOff x="533400" y="375285"/>
              <a:chExt cx="9799320" cy="1402080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211991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运行算法 / 事件与时序义务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979932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运行监视检查动作是否发生、顺序与次数是否满足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9611106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monitor_trace 读取完成事件；动作存在于图中，并不能代替轨迹中的执行证据。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3400" y="1815465"/>
              <a:ext cx="5286375" cy="3851910"/>
              <a:chOff x="533400" y="1815465"/>
              <a:chExt cx="5286375" cy="385191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33400" y="1815465"/>
                <a:ext cx="3420808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ExecutionTrace / 事件样例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533400" y="2181225"/>
                <a:ext cx="5286375" cy="1676400"/>
              </a:xfrm>
              <a:prstGeom prst="roundRect">
                <a:avLst>
                  <a:gd name="adj" fmla="val 340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14375" y="2321242"/>
                <a:ext cx="412203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{"event_index":2, "node_id":"if_pay",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14375" y="2578418"/>
                <a:ext cx="237248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"node_type":"branch",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14375" y="2835592"/>
                <a:ext cx="237248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"operation":"branch",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14375" y="3092768"/>
                <a:ext cx="401278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"status":"success", "branch":"true"}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14375" y="3349942"/>
                <a:ext cx="3963543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// source="mock"：确定性模拟 DAG 遍历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33400" y="4086225"/>
                <a:ext cx="4283774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仅 success / mocked 事件参与动作命中。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33400" y="4371975"/>
                <a:ext cx="508777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 node_id、node_type 或 operation 选择事件。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3400" y="4657725"/>
                <a:ext cx="471678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重复完成事件分别计数，保留重试与重复写入。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400" y="4943475"/>
                <a:ext cx="487737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BEFORE、次数、最终发生与条件义务分别判定。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33400" y="5229225"/>
                <a:ext cx="389810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未观测到要求的分支 → UNKNOWN。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191250" y="1815465"/>
              <a:ext cx="5574316" cy="3985260"/>
              <a:chOff x="6191250" y="1815465"/>
              <a:chExt cx="5574316" cy="398526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191250" y="1815465"/>
                <a:ext cx="3842195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IF_BRANCH_THEN / 条件义务</a:t>
                </a:r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6762750" y="2676525"/>
                <a:ext cx="4305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05300" h="9525">
                    <a:moveTo>
                      <a:pt x="0" y="0"/>
                    </a:moveTo>
                    <a:lnTo>
                      <a:pt x="4305300" y="0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6924675" y="2562225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8934450" y="2562225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10858500" y="2562225"/>
                <a:ext cx="228600" cy="228600"/>
              </a:xfrm>
              <a:prstGeom prst="ellipse">
                <a:avLst/>
              </a:prstGeom>
              <a:solidFill>
                <a:srgbClr val="C05B55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496050" y="2276475"/>
                <a:ext cx="138331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分支 true@2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496300" y="2276475"/>
                <a:ext cx="88677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通知@3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382250" y="2276475"/>
                <a:ext cx="138331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分支 true@4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86525" y="2895600"/>
                <a:ext cx="11811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义务已满足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172700" y="2895600"/>
                <a:ext cx="11811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A74741"/>
                    </a:solidFill>
                    <a:latin typeface="+mn-lt"/>
                    <a:ea typeface="+mn-ea"/>
                    <a:cs typeface="+mn-cs"/>
                  </a:rPr>
                  <a:t>缺后续通知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191250" y="3324225"/>
                <a:ext cx="5467350" cy="1238250"/>
              </a:xfrm>
              <a:prstGeom prst="roundRect">
                <a:avLst>
                  <a:gd name="adj" fmla="val 461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372225" y="3492818"/>
                <a:ext cx="423252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last_b ← max(consequence_hits) or None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372225" y="3749992"/>
                <a:ext cx="357530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unmet ← [i for i in trigger_hits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72225" y="4007168"/>
                <a:ext cx="357530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if last_b is None or i ≥ last_b]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372225" y="4264342"/>
                <a:ext cx="449199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unmet 非空 → FAIL；报告最早未满足的触发位置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191250" y="4791075"/>
                <a:ext cx="383286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一次较晚的结果可满足多次先前触发。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191250" y="5076825"/>
                <a:ext cx="383286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失败输出事件位置、轨迹片段与反例。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191250" y="5362575"/>
                <a:ext cx="439950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门禁拦截运行 FAIL 或约束可判定覆盖不足。</a:t>
                </a: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533400" y="5848350"/>
              <a:ext cx="9138952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实现范围：10 类时序算子子集；模拟外部写入，不等于真实 n8n 执行或完整 LTL 模型检查。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33400" y="6401752"/>
                <a:ext cx="7920133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依据：runtime/{models,mock_exec,compiler,monitor,evidence}.py；verify/gate.py。时间线为义务语义示意。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/>
          <p:cNvGrpSpPr/>
          <p:nvPr/>
        </p:nvGrpSpPr>
        <p:grpSpPr>
          <a:xfrm>
            <a:off x="533400" y="375285"/>
            <a:ext cx="11182826" cy="6340792"/>
            <a:chOff x="533400" y="375285"/>
            <a:chExt cx="11182826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10152888" cy="1392555"/>
              <a:chOff x="533400" y="375285"/>
              <a:chExt cx="10152888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388870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对齐算法 / 部分序与动态规划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803148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先构造线性扩展，再对齐预期与观测序列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10152888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无前后约束的并发节点按观测顺序优先排列，降低将合法交换误记为顺序错误的机会。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33400" y="1815465"/>
              <a:ext cx="5314950" cy="3766185"/>
              <a:chOff x="533400" y="1815465"/>
              <a:chExt cx="5314950" cy="376618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33400" y="1815465"/>
                <a:ext cx="2863977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align_trace / 实现链路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533400" y="2247900"/>
                <a:ext cx="345633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① 对每个节点搜索下游可达集合。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33400" y="2533650"/>
                <a:ext cx="345633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② 用规格顺序约束补充下游关系。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33400" y="2819400"/>
                <a:ext cx="4680394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③ 按 IR 边拓扑排序，就绪项按观测位置排序。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33400" y="3105150"/>
                <a:ext cx="448818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④ DP 最小化删除／插入，回溯形成对齐行。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33400" y="3390900"/>
                <a:ext cx="456123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⑤ 对匹配行做局部逆序检查，附加分支偏差。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533400" y="3981450"/>
                <a:ext cx="5314950" cy="1600200"/>
              </a:xfrm>
              <a:prstGeom prst="roundRect">
                <a:avLst>
                  <a:gd name="adj" fmla="val 357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14375" y="4133850"/>
                <a:ext cx="272796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示例：运行中缺少审核动作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14375" y="4502468"/>
                <a:ext cx="313905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expected: gen → review → pub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14375" y="4759642"/>
                <a:ext cx="2154936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observed: gen → pub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14375" y="5016818"/>
                <a:ext cx="4451223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review → MISSING_EXPECTED; edit_cost = 1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191250" y="1815465"/>
              <a:ext cx="5467350" cy="3737610"/>
              <a:chOff x="6191250" y="1815465"/>
              <a:chExt cx="5467350" cy="3737610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191250" y="1815465"/>
                <a:ext cx="5034058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编辑距离递推 / Needleman–Wunsch 式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6191250" y="2190750"/>
                <a:ext cx="5467350" cy="1514475"/>
              </a:xfrm>
              <a:prstGeom prst="roundRect">
                <a:avLst>
                  <a:gd name="adj" fmla="val 377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372225" y="2340292"/>
                <a:ext cx="2044446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D(i,0)=i; D(0,j)=j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72225" y="2597468"/>
                <a:ext cx="3793998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D(i,j)=min(D(i−1,j)+1, D(i,j−1)+1,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72225" y="2854642"/>
                <a:ext cx="182575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D(i−1,j−1)+cost)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72225" y="3111818"/>
                <a:ext cx="4778216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cost=0 if expected[i]==observed[j] else 10⁶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72225" y="3368992"/>
                <a:ext cx="434301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同 ID 匹配；不同 ID 优先拆为缺失＋额外执行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191250" y="3905250"/>
                <a:ext cx="229704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按当前实现分阶段核算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191250" y="4257675"/>
                <a:ext cx="425081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可达集合：O(V·(V+E))，空间最多 O(V²)。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191250" y="4543425"/>
                <a:ext cx="426529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就绪列表反复排序：保守 O(V² log V+E)。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191250" y="4829175"/>
                <a:ext cx="4843653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DP：时间与空间 O(nm)，n / m 为两序列长度。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191250" y="5114925"/>
                <a:ext cx="44958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另有规格关系补充；以上不是整体性能实测。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533400" y="5838825"/>
              <a:ext cx="913638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A74741"/>
                  </a:solidFill>
                  <a:latin typeface="+mn-lt"/>
                  <a:ea typeface="+mn-ea"/>
                  <a:cs typeface="+mn-cs"/>
                </a:rPr>
                <a:t>实现边界：采用单个线性扩展与局部检查；未做完整并发最优对齐，也不保证检出全部逆序。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32" name="Line 32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33400" y="6401752"/>
                <a:ext cx="8519922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依据：packages/runtime/veriflow_runtime/align.py：_closure、_tighten、_topo_biased、_edit_align、align_trace。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11</a:t>
                </a: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7"/>
          <p:cNvGrpSpPr/>
          <p:nvPr/>
        </p:nvGrpSpPr>
        <p:grpSpPr>
          <a:xfrm>
            <a:off x="533400" y="375285"/>
            <a:ext cx="11182826" cy="6340792"/>
            <a:chOff x="533400" y="375285"/>
            <a:chExt cx="11182826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10948416" cy="1392555"/>
              <a:chOff x="533400" y="375285"/>
              <a:chExt cx="10948416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565654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解释算法 / 见证切片与端点裁剪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847344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保留违反约束的路径，再裁剪解释所需节点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10948416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报告把“违反哪条约束、涉及哪些节点、看到了什么”连在一起，方便人工复核与补丁定位。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33400" y="1815465"/>
              <a:ext cx="5305425" cy="4251960"/>
              <a:chOff x="533400" y="1815465"/>
              <a:chExt cx="5305425" cy="425196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33400" y="1815465"/>
                <a:ext cx="3806762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证据切片示意 / 非可执行子流程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200150" y="2600325"/>
                <a:ext cx="405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57650" h="9525">
                    <a:moveTo>
                      <a:pt x="0" y="0"/>
                    </a:moveTo>
                    <a:lnTo>
                      <a:pt x="4057650" y="0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628650" y="2314575"/>
                <a:ext cx="5210175" cy="590550"/>
                <a:chOff x="628650" y="2314575"/>
                <a:chExt cx="5210175" cy="590550"/>
              </a:xfrm>
            </p:grpSpPr>
            <p:sp>
              <p:nvSpPr>
                <p:cNvPr id="8" name="Rectangle 8"/>
                <p:cNvSpPr/>
                <p:nvPr/>
              </p:nvSpPr>
              <p:spPr>
                <a:xfrm>
                  <a:off x="628650" y="2314575"/>
                  <a:ext cx="1066800" cy="590550"/>
                </a:xfrm>
                <a:prstGeom prst="roundRect">
                  <a:avLst>
                    <a:gd name="adj" fmla="val 9677"/>
                  </a:avLst>
                </a:prstGeom>
                <a:solidFill>
                  <a:schemeClr val="lt2"/>
                </a:solidFill>
                <a:ln w="9525">
                  <a:solidFill>
                    <a:schemeClr val="accent1"/>
                  </a:solidFill>
                </a:ln>
              </p:spPr>
            </p:sp>
            <p:sp>
              <p:nvSpPr>
                <p:cNvPr id="9" name="Rectangle 9"/>
                <p:cNvSpPr/>
                <p:nvPr/>
              </p:nvSpPr>
              <p:spPr>
                <a:xfrm>
                  <a:off x="2009775" y="2314575"/>
                  <a:ext cx="1066800" cy="590550"/>
                </a:xfrm>
                <a:prstGeom prst="roundRect">
                  <a:avLst>
                    <a:gd name="adj" fmla="val 9677"/>
                  </a:avLst>
                </a:prstGeom>
                <a:solidFill>
                  <a:schemeClr val="lt2"/>
                </a:solidFill>
                <a:ln w="9525">
                  <a:solidFill>
                    <a:schemeClr val="accent1"/>
                  </a:solidFill>
                </a:ln>
              </p:spPr>
            </p:sp>
            <p:sp>
              <p:nvSpPr>
                <p:cNvPr id="10" name="Rectangle 10"/>
                <p:cNvSpPr/>
                <p:nvPr/>
              </p:nvSpPr>
              <p:spPr>
                <a:xfrm>
                  <a:off x="3390900" y="2314575"/>
                  <a:ext cx="1066800" cy="590550"/>
                </a:xfrm>
                <a:prstGeom prst="roundRect">
                  <a:avLst>
                    <a:gd name="adj" fmla="val 9677"/>
                  </a:avLst>
                </a:prstGeom>
                <a:solidFill>
                  <a:schemeClr val="lt2"/>
                </a:solidFill>
                <a:ln w="9525">
                  <a:solidFill>
                    <a:schemeClr val="accent1"/>
                  </a:solidFill>
                </a:ln>
              </p:spPr>
            </p:sp>
            <p:sp>
              <p:nvSpPr>
                <p:cNvPr id="11" name="Rectangle 11"/>
                <p:cNvSpPr/>
                <p:nvPr/>
              </p:nvSpPr>
              <p:spPr>
                <a:xfrm>
                  <a:off x="4772025" y="2314575"/>
                  <a:ext cx="1066800" cy="590550"/>
                </a:xfrm>
                <a:prstGeom prst="roundRect">
                  <a:avLst>
                    <a:gd name="adj" fmla="val 9677"/>
                  </a:avLst>
                </a:prstGeom>
                <a:solidFill>
                  <a:schemeClr val="lt2"/>
                </a:solidFill>
                <a:ln w="9525">
                  <a:solidFill>
                    <a:schemeClr val="accent1"/>
                  </a:solidFill>
                </a:ln>
              </p:spPr>
            </p:sp>
          </p:grpSp>
          <p:grpSp>
            <p:nvGrpSpPr>
              <p:cNvPr id="17" name="Group 17"/>
              <p:cNvGrpSpPr/>
              <p:nvPr/>
            </p:nvGrpSpPr>
            <p:grpSpPr>
              <a:xfrm>
                <a:off x="1038225" y="2524125"/>
                <a:ext cx="4360926" cy="438150"/>
                <a:chOff x="1038225" y="2524125"/>
                <a:chExt cx="4360926" cy="438150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1038225" y="2524125"/>
                  <a:ext cx="198406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2419350" y="2524125"/>
                  <a:ext cx="219837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3800475" y="2524125"/>
                  <a:ext cx="187071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5181600" y="2524125"/>
                  <a:ext cx="217551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d</a:t>
                  </a:r>
                </a:p>
              </p:txBody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628650" y="3105150"/>
                <a:ext cx="373465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完整 witness_path：a → b → c → 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8650" y="3476625"/>
                <a:ext cx="349015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affected_nodes：a、d；聚焦端点</a:t>
                </a:r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3162300" y="3800475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4325">
                    <a:moveTo>
                      <a:pt x="0" y="0"/>
                    </a:moveTo>
                    <a:lnTo>
                      <a:pt x="0" y="314325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657350" y="4238625"/>
                <a:ext cx="1162050" cy="590550"/>
              </a:xfrm>
              <a:prstGeom prst="roundRect">
                <a:avLst>
                  <a:gd name="adj" fmla="val 9677"/>
                </a:avLst>
              </a:prstGeom>
              <a:solidFill>
                <a:schemeClr val="lt2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3695700" y="4238625"/>
                <a:ext cx="1162050" cy="590550"/>
              </a:xfrm>
              <a:prstGeom prst="roundRect">
                <a:avLst>
                  <a:gd name="adj" fmla="val 9677"/>
                </a:avLst>
              </a:prstGeom>
              <a:solidFill>
                <a:schemeClr val="lt2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133600" y="4448175"/>
                <a:ext cx="19840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171950" y="4448175"/>
                <a:ext cx="21755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8650" y="5057775"/>
                <a:ext cx="519017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minimized_nodes 聚焦 a、d；原见证仍单独保存。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650" y="5343525"/>
                <a:ext cx="4851273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minimized_edges 保留端点间原有边及关联边。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650" y="5629275"/>
                <a:ext cx="472782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裁剪后可能不连通，不把它当作可运行的新图。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191250" y="1809750"/>
              <a:ext cx="5467350" cy="4200525"/>
              <a:chOff x="6191250" y="1809750"/>
              <a:chExt cx="5467350" cy="4200525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191250" y="1809750"/>
                <a:ext cx="5467350" cy="1981200"/>
              </a:xfrm>
              <a:prstGeom prst="roundRect">
                <a:avLst>
                  <a:gd name="adj" fmla="val 288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372225" y="1948815"/>
                <a:ext cx="3424047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minimize_issue / 核心步骤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372225" y="2349818"/>
                <a:ext cx="4887563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keep ← unique(witness_path + affected_nodes)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72225" y="2606992"/>
                <a:ext cx="313801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keep ← keep ∩ known_node_ids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372225" y="2864168"/>
                <a:ext cx="423148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core ← endpoints + affected on witness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372225" y="3121342"/>
                <a:ext cx="3389376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若 core 至少2节点：优先保留 core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372225" y="3378518"/>
                <a:ext cx="4340733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edges ← retained_edges + affected_edges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191250" y="4025265"/>
                <a:ext cx="1402080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输出与限制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191250" y="4429125"/>
                <a:ext cx="49626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issue_id / constraint_ids / original_node_count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191250" y="4714875"/>
                <a:ext cx="436854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minimized_nodes / edges / witness_path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191250" y="5000625"/>
                <a:ext cx="4758023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method = witness-slice+endpoint-reduction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191250" y="5286375"/>
                <a:ext cx="263937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globally_minimal = false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191250" y="5572125"/>
                <a:ext cx="428586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未枚举子图并重验，未证明全局最小反例。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43" name="Line 43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33400" y="6401752"/>
                <a:ext cx="7966234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依据：packages/explain/veriflow_explain/minimize.py；rootcause.py 按关联节点分组，不宣称自动证明因果。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12</a:t>
                </a: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8"/>
          <p:cNvGrpSpPr/>
          <p:nvPr/>
        </p:nvGrpSpPr>
        <p:grpSpPr>
          <a:xfrm>
            <a:off x="533400" y="375285"/>
            <a:ext cx="11182826" cy="6340792"/>
            <a:chOff x="533400" y="375285"/>
            <a:chExt cx="11182826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9560909" cy="1392555"/>
              <a:chOff x="533400" y="375285"/>
              <a:chExt cx="9560909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742438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修复算法 / 候选生成与六阶段守卫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6716649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修复候选必须通过守卫与全量复验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9560909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默认每轮最多选择 3 个候选：规则计划变体与可选 AI 提案共享同一套筛选流程。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33400" y="1809750"/>
              <a:ext cx="11125200" cy="600075"/>
              <a:chOff x="533400" y="1809750"/>
              <a:chExt cx="11125200" cy="60007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809750"/>
                <a:ext cx="3333750" cy="504825"/>
              </a:xfrm>
              <a:prstGeom prst="roundRect">
                <a:avLst>
                  <a:gd name="adj" fmla="val 1132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14375" y="1971675"/>
                <a:ext cx="310134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IR＋Spec＋Issues → 候选补丁</a:t>
                </a:r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3867150" y="2057400"/>
                <a:ext cx="895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5350" h="9525">
                    <a:moveTo>
                      <a:pt x="0" y="0"/>
                    </a:moveTo>
                    <a:lnTo>
                      <a:pt x="895350" y="0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4762500" y="1809750"/>
                <a:ext cx="3143250" cy="504825"/>
              </a:xfrm>
              <a:prstGeom prst="roundRect">
                <a:avLst>
                  <a:gd name="adj" fmla="val 1132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953000" y="1971675"/>
                <a:ext cx="283549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逐候选 evaluate_candidate</a:t>
                </a:r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7905750" y="2057400"/>
                <a:ext cx="819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19150" h="9525">
                    <a:moveTo>
                      <a:pt x="0" y="0"/>
                    </a:moveTo>
                    <a:lnTo>
                      <a:pt x="819150" y="0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8724900" y="1809750"/>
                <a:ext cx="2933700" cy="504825"/>
              </a:xfrm>
              <a:prstGeom prst="roundRect">
                <a:avLst>
                  <a:gd name="adj" fmla="val 1132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915400" y="1971675"/>
                <a:ext cx="264890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合格候选排序 → 选择补丁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33400" y="2533650"/>
              <a:ext cx="11125200" cy="3143250"/>
              <a:chOff x="533400" y="2533650"/>
              <a:chExt cx="11125200" cy="31432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2533650"/>
                <a:ext cx="11125200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704850" y="2628900"/>
                <a:ext cx="9524619" cy="438150"/>
                <a:chOff x="704850" y="2628900"/>
                <a:chExt cx="9524619" cy="438150"/>
              </a:xfrm>
            </p:grpSpPr>
            <p:sp>
              <p:nvSpPr>
                <p:cNvPr id="16" name="TextBox 16"/>
                <p:cNvSpPr txBox="1"/>
                <p:nvPr/>
              </p:nvSpPr>
              <p:spPr>
                <a:xfrm>
                  <a:off x="704850" y="2628900"/>
                  <a:ext cx="5292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阶段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3390900" y="2628900"/>
                  <a:ext cx="96012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具体判定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258300" y="2628900"/>
                  <a:ext cx="97116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失败处理</a:t>
                  </a:r>
                </a:p>
              </p:txBody>
            </p:sp>
          </p:grpSp>
          <p:sp>
            <p:nvSpPr>
              <p:cNvPr id="20" name="Rectangle 20"/>
              <p:cNvSpPr/>
              <p:nvPr/>
            </p:nvSpPr>
            <p:spPr>
              <a:xfrm>
                <a:off x="533400" y="2914650"/>
                <a:ext cx="11125200" cy="4381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533400" y="3790950"/>
                <a:ext cx="11125200" cy="4381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533400" y="4667250"/>
                <a:ext cx="11125200" cy="4381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704850" y="3048000"/>
                <a:ext cx="10176510" cy="2628900"/>
                <a:chOff x="704850" y="3048000"/>
                <a:chExt cx="10176510" cy="2628900"/>
              </a:xfrm>
            </p:grpSpPr>
            <p:sp>
              <p:nvSpPr>
                <p:cNvPr id="23" name="TextBox 23"/>
                <p:cNvSpPr txBox="1"/>
                <p:nvPr/>
              </p:nvSpPr>
              <p:spPr>
                <a:xfrm>
                  <a:off x="704850" y="3048000"/>
                  <a:ext cx="1155192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1 补丁结构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390900" y="3048000"/>
                  <a:ext cx="366664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结构化 Patch 对象，拒绝空补丁列表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9258300" y="3048000"/>
                  <a:ext cx="162306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拒绝、后续跳过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04850" y="3486150"/>
                  <a:ext cx="1166146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2 图完整性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3390900" y="3486150"/>
                  <a:ext cx="361188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节点／边引用、操作前后置条件合法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9258300" y="3486150"/>
                  <a:ext cx="162306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拒绝、后续跳过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04850" y="3924300"/>
                  <a:ext cx="1376172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3 策略白名单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3390900" y="3924300"/>
                  <a:ext cx="427482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新增或修改的工具必须属于当前领域白名单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9258300" y="3924300"/>
                  <a:ext cx="140208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拒绝非法工具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04850" y="4362450"/>
                  <a:ext cx="1166241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4 增量筛选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3390900" y="4362450"/>
                  <a:ext cx="406488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目标已解决，或问题／失败约束数量减少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9258300" y="4362450"/>
                  <a:ext cx="141312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无改善则拒绝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04850" y="4800600"/>
                  <a:ext cx="1155192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5 全量验证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3390900" y="4800600"/>
                  <a:ext cx="401374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对修改后的图完整运行 verify_workflow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9258300" y="4800600"/>
                  <a:ext cx="140208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交给回归判定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04850" y="5238750"/>
                  <a:ext cx="1166146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 回归决策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3390900" y="5238750"/>
                  <a:ext cx="537972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目标消失，无新增高风险；可达／结构类别未从无变有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9258300" y="5238750"/>
                  <a:ext cx="119214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接受或拒绝</a:t>
                  </a:r>
                </a:p>
              </p:txBody>
            </p:sp>
          </p:grpSp>
        </p:grpSp>
        <p:sp>
          <p:nvSpPr>
            <p:cNvPr id="43" name="TextBox 43"/>
            <p:cNvSpPr txBox="1"/>
            <p:nvPr/>
          </p:nvSpPr>
          <p:spPr>
            <a:xfrm>
              <a:off x="533400" y="5695950"/>
              <a:ext cx="8974646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A74741"/>
                  </a:solidFill>
                  <a:latin typeface="+mn-lt"/>
                  <a:ea typeface="+mn-ea"/>
                  <a:cs typeface="+mn-cs"/>
                </a:rPr>
                <a:t>接受补丁可仅解决目标问题，最终仍可能 FAIL；循环继续修复，发布时另由门禁独立判定。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44" name="Line 44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33400" y="6401752"/>
                <a:ext cx="730396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依据：packages/repair/veriflow_repair/{select,guard,candidate,executor}.py；拒绝候选不替换原图。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13</a:t>
                </a: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3"/>
          <p:cNvGrpSpPr/>
          <p:nvPr/>
        </p:nvGrpSpPr>
        <p:grpSpPr>
          <a:xfrm>
            <a:off x="533400" y="375285"/>
            <a:ext cx="11209687" cy="6340792"/>
            <a:chOff x="533400" y="375285"/>
            <a:chExt cx="11209687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8838057" cy="1392555"/>
              <a:chOff x="533400" y="375285"/>
              <a:chExt cx="8838057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753392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修复算法 / 词典序排序与增量复验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803148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按风险与改动量排序，按验证器类别重算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8838057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先满足修复条件，再选择改动较小的候选；增量筛选之后仍执行全量验证。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3400" y="1815465"/>
              <a:ext cx="5305425" cy="3890010"/>
              <a:chOff x="533400" y="1815465"/>
              <a:chExt cx="5305425" cy="389001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33400" y="1815465"/>
                <a:ext cx="4243959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lex_key / 从左到右比较，越小越优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533400" y="2190750"/>
                <a:ext cx="5305425" cy="1571625"/>
              </a:xfrm>
              <a:prstGeom prst="roundRect">
                <a:avLst>
                  <a:gd name="adj" fmla="val 363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14375" y="2349818"/>
                <a:ext cx="281063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(目标未修复?, 新增高风险数,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14375" y="2606992"/>
                <a:ext cx="309914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失败约束数, 新增可达问题类别?,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14375" y="2864168"/>
                <a:ext cx="219437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改动节点数, 改动边数,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14375" y="3121342"/>
                <a:ext cx="239325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改动参数数, 补丁操作数)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14375" y="3378518"/>
                <a:ext cx="386600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先筛合格候选，再按此元组排序选第一项。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33400" y="3987165"/>
                <a:ext cx="3817144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verify_repair_loop / 停止条件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33400" y="4410075"/>
                <a:ext cx="443674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初始 PASS：无需修复；每轮重新收集问题。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3400" y="4695825"/>
                <a:ext cx="452666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接受候选后替换当前图，记录 patch 与 diff。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400" y="4981575"/>
                <a:ext cx="487870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达到 PASS、候选被拒绝、故障指纹重复即停止。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33400" y="5267325"/>
                <a:ext cx="479564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另设迭代上限：默认 3 轮，竞赛基准使用 2 轮。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191250" y="1815465"/>
              <a:ext cx="5551837" cy="3699510"/>
              <a:chOff x="6191250" y="1815465"/>
              <a:chExt cx="5551837" cy="369951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191250" y="1815465"/>
                <a:ext cx="5551837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workflow_changes → impact_set → rerun</a:t>
                </a:r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6429375" y="2466975"/>
                <a:ext cx="4905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905375" h="9525">
                    <a:moveTo>
                      <a:pt x="0" y="0"/>
                    </a:moveTo>
                    <a:lnTo>
                      <a:pt x="4905375" y="0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6191250" y="2247900"/>
                <a:ext cx="5467350" cy="457200"/>
                <a:chOff x="6191250" y="2247900"/>
                <a:chExt cx="5467350" cy="457200"/>
              </a:xfrm>
            </p:grpSpPr>
            <p:sp>
              <p:nvSpPr>
                <p:cNvPr id="21" name="Rectangle 21"/>
                <p:cNvSpPr/>
                <p:nvPr/>
              </p:nvSpPr>
              <p:spPr>
                <a:xfrm>
                  <a:off x="6191250" y="2247900"/>
                  <a:ext cx="1428750" cy="457200"/>
                </a:xfrm>
                <a:prstGeom prst="roundRect">
                  <a:avLst>
                    <a:gd name="adj" fmla="val 125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22" name="Rectangle 22"/>
                <p:cNvSpPr/>
                <p:nvPr/>
              </p:nvSpPr>
              <p:spPr>
                <a:xfrm>
                  <a:off x="8115300" y="2247900"/>
                  <a:ext cx="1552575" cy="457200"/>
                </a:xfrm>
                <a:prstGeom prst="roundRect">
                  <a:avLst>
                    <a:gd name="adj" fmla="val 125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23" name="Rectangle 23"/>
                <p:cNvSpPr/>
                <p:nvPr/>
              </p:nvSpPr>
              <p:spPr>
                <a:xfrm>
                  <a:off x="10191750" y="2247900"/>
                  <a:ext cx="1466850" cy="457200"/>
                </a:xfrm>
                <a:prstGeom prst="roundRect">
                  <a:avLst>
                    <a:gd name="adj" fmla="val 125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6372225" y="2381250"/>
                <a:ext cx="5203698" cy="438150"/>
                <a:chOff x="6372225" y="2381250"/>
                <a:chExt cx="5203698" cy="438150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6372225" y="2381250"/>
                  <a:ext cx="97116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识别变更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8277225" y="2381250"/>
                  <a:ext cx="119214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传播至下游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0372725" y="2381250"/>
                  <a:ext cx="120319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选择验证器</a:t>
                  </a:r>
                </a:p>
              </p:txBody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6191250" y="2924175"/>
                <a:ext cx="260051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参数配置变更 → safety。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191250" y="3209925"/>
                <a:ext cx="414394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类型绑定变更 → dataflow + semantic。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191250" y="3495675"/>
                <a:ext cx="470382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条件变更 → structural + semantic + safety。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191250" y="3781425"/>
                <a:ext cx="3742754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节点／工具类型／边变化 → 全五维。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191250" y="4248150"/>
                <a:ext cx="5467350" cy="1266825"/>
              </a:xfrm>
              <a:prstGeom prst="roundRect">
                <a:avLst>
                  <a:gd name="adj" fmla="val 45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372225" y="4410075"/>
                <a:ext cx="450427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无历史结果或需重算全五维 → full fallback。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372225" y="4695825"/>
                <a:ext cx="471678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否则重算选中类别，复用其他类别的问题结果。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372225" y="4981575"/>
                <a:ext cx="494880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影响集合辅助说明，未逐约束精确缩减执行范围。</a:t>
                </a: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533400" y="5829300"/>
              <a:ext cx="869442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A74741"/>
                  </a:solidFill>
                  <a:latin typeface="+mn-lt"/>
                  <a:ea typeface="+mn-ea"/>
                  <a:cs typeface="+mn-cs"/>
                </a:rPr>
                <a:t>“改动较小”由候选内词典序选择实现；不宣称全局最小补丁，通用加速倍数尚未测量。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533400" y="6248400"/>
              <a:ext cx="11191494" cy="467677"/>
              <a:chOff x="533400" y="6248400"/>
              <a:chExt cx="11191494" cy="467677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33400" y="6401752"/>
                <a:ext cx="820531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依据：repair/{select,loop}.py；verify/{incremental,result}.py；equivalence_report 比较状态、问题码和失败约束。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1458575" y="6401752"/>
                <a:ext cx="266319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14</a:t>
                </a: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533400" y="375285"/>
            <a:ext cx="11182826" cy="6340792"/>
            <a:chOff x="533400" y="375285"/>
            <a:chExt cx="11182826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9330976" cy="1402080"/>
              <a:chOff x="533400" y="375285"/>
              <a:chExt cx="9330976" cy="1402080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336578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A74741"/>
                    </a:solidFill>
                    <a:latin typeface="+mn-lt"/>
                    <a:ea typeface="+mn-ea"/>
                    <a:cs typeface="+mn-cs"/>
                  </a:rPr>
                  <a:t>可复核案例一 / case1_order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758952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直接入库路径被拦截，两轮补丁后放行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9330976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需求要求生成器、范围守卫、审题门与入库；原图只有 gen → pub 两个节点。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533400" y="1805940"/>
              <a:ext cx="5314950" cy="4318635"/>
              <a:chOff x="533400" y="1805940"/>
              <a:chExt cx="5314950" cy="431863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33400" y="1805940"/>
                <a:ext cx="1932432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原图与失败证据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2038350" y="257175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solidFill>
                <a:schemeClr val="dk1"/>
              </a:solidFill>
              <a:ln w="47625">
                <a:solidFill>
                  <a:srgbClr val="C05B55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628650" y="2257425"/>
                <a:ext cx="1657350" cy="628650"/>
              </a:xfrm>
              <a:prstGeom prst="roundRect">
                <a:avLst>
                  <a:gd name="adj" fmla="val 9091"/>
                </a:avLst>
              </a:prstGeom>
              <a:solidFill>
                <a:schemeClr val="lt2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943350" y="2257425"/>
                <a:ext cx="1657350" cy="628650"/>
              </a:xfrm>
              <a:prstGeom prst="roundRect">
                <a:avLst>
                  <a:gd name="adj" fmla="val 9091"/>
                </a:avLst>
              </a:prstGeom>
              <a:solidFill>
                <a:schemeClr val="lt2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28675" y="2486025"/>
                <a:ext cx="137826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gen / 生成器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143375" y="2486025"/>
                <a:ext cx="116195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pub / 发布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533400" y="3133725"/>
                <a:ext cx="5314950" cy="2076450"/>
              </a:xfrm>
              <a:prstGeom prst="roundRect">
                <a:avLst>
                  <a:gd name="adj" fmla="val 275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14375" y="3302318"/>
                <a:ext cx="2044446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MISSING_HUMAN_GATE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14375" y="3559492"/>
                <a:ext cx="3247263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witness_path = ["gen", "pub"]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14375" y="3816668"/>
                <a:ext cx="3336893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MISSING_REQUIRED_ACTION：guard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14375" y="4073842"/>
                <a:ext cx="2671286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WEAK_BOUNDS：缺少上界守卫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14375" y="4533900"/>
                <a:ext cx="285064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rgbClr val="A74741"/>
                    </a:solidFill>
                    <a:latin typeface="+mn-lt"/>
                    <a:ea typeface="+mn-ea"/>
                    <a:cs typeface="+mn-cs"/>
                  </a:rPr>
                  <a:t>静态 FAIL / 发布 BLOCKED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3400" y="5400675"/>
                <a:ext cx="405784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审核集合为空；BFS 不需枚举全部路径。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33400" y="5686425"/>
                <a:ext cx="396649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直接得到 gen → pub，作为拦截依据。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191250" y="1805940"/>
              <a:ext cx="5467350" cy="4070985"/>
              <a:chOff x="6191250" y="1805940"/>
              <a:chExt cx="5467350" cy="4070985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191250" y="1805940"/>
                <a:ext cx="3869531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规则修复实测 / allow_ai=False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191250" y="2228850"/>
                <a:ext cx="3582733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第 1 轮：插入 review，替换直连边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191250" y="2587942"/>
                <a:ext cx="412203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add_node(review); disconnect(gen,pub)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191250" y="2845118"/>
                <a:ext cx="445008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connect(gen,review); connect(review,pub)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191250" y="3209925"/>
                <a:ext cx="4153471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第 2 轮：插入 g_bounds，补上上界约束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191250" y="3559492"/>
                <a:ext cx="477926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expr: spec.n_min ≥ 1 &amp;&amp; spec.n_max ≤ 100000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191250" y="3816668"/>
                <a:ext cx="3248406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gen → g_bounds → review → pub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6191250" y="4276725"/>
                <a:ext cx="5467350" cy="1571625"/>
              </a:xfrm>
              <a:prstGeom prst="roundRect">
                <a:avLst>
                  <a:gd name="adj" fmla="val 363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381750" y="4444365"/>
                <a:ext cx="3975545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最终：静态 PASS / 门禁 READY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381750" y="4867275"/>
                <a:ext cx="461410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每轮 4 个操作，共 8 个；最终增加 2 个节点。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381750" y="5153025"/>
                <a:ext cx="406488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第一轮接受补丁后仍有缺陷，继续修复。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1750" y="5438775"/>
                <a:ext cx="405384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两轮后完整验证与模拟运行均满足门禁。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33400" y="6401752"/>
                <a:ext cx="8116443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依据：examples/golden/case1_order.json；本次代码复核 sources/case_evidence.json；不是新增竞赛基准样本。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15</a:t>
                </a: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6"/>
          <p:cNvGrpSpPr/>
          <p:nvPr/>
        </p:nvGrpSpPr>
        <p:grpSpPr>
          <a:xfrm>
            <a:off x="533400" y="375285"/>
            <a:ext cx="11247787" cy="6340792"/>
            <a:chOff x="533400" y="375285"/>
            <a:chExt cx="11247787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10213181" cy="1402080"/>
              <a:chOff x="533400" y="375285"/>
              <a:chExt cx="10213181" cy="1402080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532698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A74741"/>
                    </a:solidFill>
                    <a:latin typeface="+mn-lt"/>
                    <a:ea typeface="+mn-ea"/>
                    <a:cs typeface="+mn-cs"/>
                  </a:rPr>
                  <a:t>可复核案例二 / case4_runtime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758952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分支后断流触发运行门禁，静态仍通过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10213181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6 个节点、5 条边均在图上；模拟执行设置 skip_after="if_pay"，仅记录前 3 个事件。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" y="1781175"/>
              <a:ext cx="11125200" cy="1581150"/>
              <a:chOff x="533400" y="1781175"/>
              <a:chExt cx="11125200" cy="158115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33400" y="1781175"/>
                <a:ext cx="19832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完整 IR 的节点顺序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285875" y="2409825"/>
                <a:ext cx="9572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72625" h="9525">
                    <a:moveTo>
                      <a:pt x="0" y="0"/>
                    </a:moveTo>
                    <a:lnTo>
                      <a:pt x="9572625" y="0"/>
                    </a:lnTo>
                  </a:path>
                </a:pathLst>
              </a:custGeom>
              <a:solidFill>
                <a:schemeClr val="dk1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533400" y="2152650"/>
                <a:ext cx="11125200" cy="542925"/>
                <a:chOff x="533400" y="2152650"/>
                <a:chExt cx="11125200" cy="542925"/>
              </a:xfrm>
            </p:grpSpPr>
            <p:sp>
              <p:nvSpPr>
                <p:cNvPr id="8" name="Rectangle 8"/>
                <p:cNvSpPr/>
                <p:nvPr/>
              </p:nvSpPr>
              <p:spPr>
                <a:xfrm>
                  <a:off x="533400" y="2152650"/>
                  <a:ext cx="1638300" cy="542925"/>
                </a:xfrm>
                <a:prstGeom prst="roundRect">
                  <a:avLst>
                    <a:gd name="adj" fmla="val 10526"/>
                  </a:avLst>
                </a:prstGeom>
                <a:solidFill>
                  <a:schemeClr val="lt2"/>
                </a:solidFill>
                <a:ln w="9525">
                  <a:solidFill>
                    <a:schemeClr val="accent1"/>
                  </a:solidFill>
                </a:ln>
              </p:spPr>
            </p:sp>
            <p:sp>
              <p:nvSpPr>
                <p:cNvPr id="9" name="Rectangle 9"/>
                <p:cNvSpPr/>
                <p:nvPr/>
              </p:nvSpPr>
              <p:spPr>
                <a:xfrm>
                  <a:off x="2419350" y="2152650"/>
                  <a:ext cx="1638300" cy="542925"/>
                </a:xfrm>
                <a:prstGeom prst="roundRect">
                  <a:avLst>
                    <a:gd name="adj" fmla="val 10526"/>
                  </a:avLst>
                </a:prstGeom>
                <a:solidFill>
                  <a:schemeClr val="lt2"/>
                </a:solidFill>
                <a:ln w="9525">
                  <a:solidFill>
                    <a:schemeClr val="accent1"/>
                  </a:solidFill>
                </a:ln>
              </p:spPr>
            </p:sp>
            <p:sp>
              <p:nvSpPr>
                <p:cNvPr id="10" name="Rectangle 10"/>
                <p:cNvSpPr/>
                <p:nvPr/>
              </p:nvSpPr>
              <p:spPr>
                <a:xfrm>
                  <a:off x="4305300" y="2152650"/>
                  <a:ext cx="1638300" cy="542925"/>
                </a:xfrm>
                <a:prstGeom prst="roundRect">
                  <a:avLst>
                    <a:gd name="adj" fmla="val 10526"/>
                  </a:avLst>
                </a:prstGeom>
                <a:solidFill>
                  <a:schemeClr val="lt2"/>
                </a:solidFill>
                <a:ln w="9525">
                  <a:solidFill>
                    <a:schemeClr val="accent1"/>
                  </a:solidFill>
                </a:ln>
              </p:spPr>
            </p:sp>
            <p:sp>
              <p:nvSpPr>
                <p:cNvPr id="11" name="Rectangle 11"/>
                <p:cNvSpPr/>
                <p:nvPr/>
              </p:nvSpPr>
              <p:spPr>
                <a:xfrm>
                  <a:off x="6191250" y="2152650"/>
                  <a:ext cx="1638300" cy="542925"/>
                </a:xfrm>
                <a:prstGeom prst="roundRect">
                  <a:avLst>
                    <a:gd name="adj" fmla="val 10526"/>
                  </a:avLst>
                </a:prstGeom>
                <a:solidFill>
                  <a:schemeClr val="lt2"/>
                </a:solidFill>
                <a:ln w="9525">
                  <a:solidFill>
                    <a:schemeClr val="accent1"/>
                  </a:solidFill>
                </a:ln>
              </p:spPr>
            </p:sp>
            <p:sp>
              <p:nvSpPr>
                <p:cNvPr id="12" name="Rectangle 12"/>
                <p:cNvSpPr/>
                <p:nvPr/>
              </p:nvSpPr>
              <p:spPr>
                <a:xfrm>
                  <a:off x="8077200" y="2152650"/>
                  <a:ext cx="1638300" cy="542925"/>
                </a:xfrm>
                <a:prstGeom prst="roundRect">
                  <a:avLst>
                    <a:gd name="adj" fmla="val 10526"/>
                  </a:avLst>
                </a:prstGeom>
                <a:solidFill>
                  <a:schemeClr val="lt2"/>
                </a:solidFill>
                <a:ln w="9525">
                  <a:solidFill>
                    <a:schemeClr val="accent1"/>
                  </a:solidFill>
                </a:ln>
              </p:spPr>
            </p:sp>
            <p:sp>
              <p:nvSpPr>
                <p:cNvPr id="13" name="Rectangle 13"/>
                <p:cNvSpPr/>
                <p:nvPr/>
              </p:nvSpPr>
              <p:spPr>
                <a:xfrm>
                  <a:off x="9963150" y="2152650"/>
                  <a:ext cx="1695450" cy="542925"/>
                </a:xfrm>
                <a:prstGeom prst="roundRect">
                  <a:avLst>
                    <a:gd name="adj" fmla="val 10526"/>
                  </a:avLst>
                </a:prstGeom>
                <a:solidFill>
                  <a:schemeClr val="lt2"/>
                </a:solidFill>
                <a:ln w="9525">
                  <a:solidFill>
                    <a:schemeClr val="accent1"/>
                  </a:solidFill>
                </a:ln>
              </p:spPr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866775" y="2333625"/>
                <a:ext cx="10136410" cy="438150"/>
                <a:chOff x="866775" y="2333625"/>
                <a:chExt cx="10136410" cy="438150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866775" y="2333625"/>
                  <a:ext cx="47910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gen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2667000" y="2333625"/>
                  <a:ext cx="111433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g_bounds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4676775" y="2333625"/>
                  <a:ext cx="692372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if_pay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6496050" y="2333625"/>
                  <a:ext cx="92021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notify_1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8486775" y="2333625"/>
                  <a:ext cx="7598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review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0506075" y="2333625"/>
                  <a:ext cx="49711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pub</a:t>
                  </a:r>
                </a:p>
              </p:txBody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533400" y="2924175"/>
                <a:ext cx="97116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实际轨迹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933575" y="2940368"/>
                <a:ext cx="390344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gen@0 → g_bounds@1 → if_pay@2(true)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6191250" y="2867025"/>
                <a:ext cx="95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5">
                    <a:moveTo>
                      <a:pt x="0" y="0"/>
                    </a:moveTo>
                    <a:lnTo>
                      <a:pt x="0" y="333375"/>
                    </a:lnTo>
                  </a:path>
                </a:pathLst>
              </a:custGeom>
              <a:noFill/>
              <a:ln w="47625">
                <a:solidFill>
                  <a:srgbClr val="C05B5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467475" y="2924175"/>
                <a:ext cx="318096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A74741"/>
                    </a:solidFill>
                    <a:latin typeface="+mn-lt"/>
                    <a:ea typeface="+mn-ea"/>
                    <a:cs typeface="+mn-cs"/>
                  </a:rPr>
                  <a:t>后续未执行：通知、审核与入库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33400" y="3514725"/>
              <a:ext cx="5334000" cy="2324100"/>
              <a:chOff x="533400" y="3514725"/>
              <a:chExt cx="5334000" cy="23241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33400" y="3514725"/>
                <a:ext cx="5334000" cy="2324100"/>
              </a:xfrm>
              <a:prstGeom prst="roundRect">
                <a:avLst>
                  <a:gd name="adj" fmla="val 245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23900" y="3663315"/>
                <a:ext cx="2582037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运行义务 / 5 项 FAIL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23900" y="4095750"/>
                <a:ext cx="503786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EVENTUALLY publish_problem：未出现在轨迹。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4381500"/>
                <a:ext cx="508292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EXACTLY_ONCE publish_problem：执行次数 0。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23900" y="4667250"/>
                <a:ext cx="4160044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IF_EXECUTED_THEN：生成后缺少审核。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23900" y="4953000"/>
                <a:ext cx="403279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IF_BRANCH_THEN：true 后缺少通知。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5238750"/>
                <a:ext cx="432644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EVENTUALLY notify：通知未出现在轨迹。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191250" y="3634740"/>
              <a:ext cx="5589937" cy="2247900"/>
              <a:chOff x="6191250" y="3634740"/>
              <a:chExt cx="5589937" cy="2247900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6191250" y="3634740"/>
                <a:ext cx="2473833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静态与运行交叉结果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191250" y="4067175"/>
                <a:ext cx="444093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静态：12/12 约束通过，五个维度均 PASS。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191250" y="4352925"/>
                <a:ext cx="452027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轨迹对齐：缺失 3 个预期节点，对齐代价 3。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191250" y="4638675"/>
                <a:ext cx="409822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节点覆盖：3/6；时序可判定覆盖：7/7。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191250" y="4924425"/>
                <a:ext cx="469087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覆盖可判定不代表约束通过，5 项已判定失败。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191250" y="5349240"/>
                <a:ext cx="5589937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rgbClr val="C05B55"/>
                    </a:solidFill>
                    <a:latin typeface="+mn-lt"/>
                    <a:ea typeface="+mn-ea"/>
                    <a:cs typeface="+mn-cs"/>
                  </a:rPr>
                  <a:t>Gate：BLOCKED / reason=RUNTIME_FAIL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42" name="Line 42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33400" y="6401752"/>
                <a:ext cx="8486584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依据：golden/case4_runtime.json、case4_runtime_ir.json；本次 case_evidence.json。模拟轨迹，无真实外部副作用。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16</a:t>
                </a: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5"/>
          <p:cNvGrpSpPr/>
          <p:nvPr/>
        </p:nvGrpSpPr>
        <p:grpSpPr>
          <a:xfrm>
            <a:off x="533400" y="375285"/>
            <a:ext cx="11182826" cy="6340792"/>
            <a:chOff x="533400" y="375285"/>
            <a:chExt cx="11182826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8742616" cy="1392555"/>
              <a:chOff x="533400" y="375285"/>
              <a:chExt cx="8742616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576608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产品界面 / 运行证据与程序判题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714756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运行报告与沙箱判题展示可复核证据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8742616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左为 case4 断流报告；右为 VF1001 真实 WA 记录，可核对输入与输出。</a:t>
                </a: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33400" y="1834515"/>
              <a:ext cx="7105650" cy="2061210"/>
              <a:chOff x="533400" y="1834515"/>
              <a:chExt cx="7105650" cy="206121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33400" y="1834515"/>
                <a:ext cx="3942112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① 运行轨迹区 / 仅记录 3 个事件</a:t>
                </a:r>
              </a:p>
            </p:txBody>
          </p:sp>
          <p:pic>
            <p:nvPicPr>
              <p:cNvPr id="7" name="Image 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3400" y="2270317"/>
                <a:ext cx="7105650" cy="1041016"/>
              </a:xfrm>
              <a:prstGeom prst="rect">
                <a:avLst/>
              </a:prstGeom>
            </p:spPr>
          </p:pic>
          <p:sp>
            <p:nvSpPr>
              <p:cNvPr id="8" name="TextBox 8"/>
              <p:cNvSpPr txBox="1"/>
              <p:nvPr/>
            </p:nvSpPr>
            <p:spPr>
              <a:xfrm>
                <a:off x="533400" y="3457575"/>
                <a:ext cx="668121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点击事件可查看关联节点；本例轨迹在 if_pay 的 true 分支后结束。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533400" y="3977640"/>
              <a:ext cx="7088518" cy="2146935"/>
              <a:chOff x="533400" y="3977640"/>
              <a:chExt cx="7088518" cy="214693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33400" y="3977640"/>
                <a:ext cx="4150995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② 问题证据区 / 发布动作没有执行</a:t>
                </a:r>
              </a:p>
            </p:txBody>
          </p:sp>
          <p:pic>
            <p:nvPicPr>
              <p:cNvPr id="11" name="Image 1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0533" y="4362450"/>
                <a:ext cx="7071385" cy="1762125"/>
              </a:xfrm>
              <a:prstGeom prst="rect">
                <a:avLst/>
              </a:prstGeom>
            </p:spPr>
          </p:pic>
        </p:grpSp>
        <p:grpSp>
          <p:nvGrpSpPr>
            <p:cNvPr id="20" name="Group 20"/>
            <p:cNvGrpSpPr/>
            <p:nvPr/>
          </p:nvGrpSpPr>
          <p:grpSpPr>
            <a:xfrm>
              <a:off x="7905750" y="1809750"/>
              <a:ext cx="3752850" cy="4152900"/>
              <a:chOff x="7905750" y="1809750"/>
              <a:chExt cx="3752850" cy="4152900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7905750" y="1809750"/>
                <a:ext cx="9525" cy="4152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52900">
                    <a:moveTo>
                      <a:pt x="0" y="0"/>
                    </a:moveTo>
                    <a:lnTo>
                      <a:pt x="0" y="41529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162925" y="1844040"/>
                <a:ext cx="3113627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解题沙箱 / 真实 WA 记录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62925" y="2266950"/>
                <a:ext cx="347157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C++17 / Python3，容器隔离执行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62925" y="2552700"/>
                <a:ext cx="3314224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VF1001：输入与错误输出可复核</a:t>
                </a:r>
              </a:p>
            </p:txBody>
          </p:sp>
          <p:pic>
            <p:nvPicPr>
              <p:cNvPr id="17" name="Imag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62925" y="3067050"/>
                <a:ext cx="3495675" cy="857250"/>
              </a:xfrm>
              <a:prstGeom prst="rect">
                <a:avLst/>
              </a:prstGeom>
            </p:spPr>
          </p:pic>
          <p:pic>
            <p:nvPicPr>
              <p:cNvPr id="18" name="Image 1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68309" y="4019550"/>
                <a:ext cx="3484908" cy="857250"/>
              </a:xfrm>
              <a:prstGeom prst="rect">
                <a:avLst/>
              </a:prstGeom>
            </p:spPr>
          </p:pic>
          <p:pic>
            <p:nvPicPr>
              <p:cNvPr id="19" name="Image 1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62925" y="4972050"/>
                <a:ext cx="3495675" cy="857250"/>
              </a:xfrm>
              <a:prstGeom prst="rect">
                <a:avLst/>
              </a:prstGeom>
            </p:spPr>
          </p:pic>
        </p:grpSp>
        <p:grpSp>
          <p:nvGrpSpPr>
            <p:cNvPr id="24" name="Group 24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533400" y="6401752"/>
                <a:ext cx="5007864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来源：线上 case4 报告；/status/23 VF1001 WA，2026-10-05 核对。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17</a:t>
                </a: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1"/>
          <p:cNvGrpSpPr/>
          <p:nvPr/>
        </p:nvGrpSpPr>
        <p:grpSpPr>
          <a:xfrm>
            <a:off x="533400" y="375285"/>
            <a:ext cx="11182826" cy="6340792"/>
            <a:chOff x="533400" y="375285"/>
            <a:chExt cx="11182826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10511314" cy="1392555"/>
              <a:chOff x="533400" y="375285"/>
              <a:chExt cx="10511314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804922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实验方法与结果 / competition-v2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10061734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50 条故障检出，35 条定位正确，38 条修复后通过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10511314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5 组正常流程＋50 组注入故障；检测、诊断、定位与修复分别计分，不混为同一准确率。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33400" y="1809750"/>
              <a:ext cx="11125200" cy="2914650"/>
              <a:chOff x="533400" y="1809750"/>
              <a:chExt cx="11125200" cy="29146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809750"/>
                <a:ext cx="11125200" cy="4286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714375" y="1943100"/>
                <a:ext cx="7160895" cy="438150"/>
                <a:chOff x="714375" y="1943100"/>
                <a:chExt cx="7160895" cy="438150"/>
              </a:xfrm>
            </p:grpSpPr>
            <p:sp>
              <p:nvSpPr>
                <p:cNvPr id="7" name="TextBox 7"/>
                <p:cNvSpPr txBox="1"/>
                <p:nvPr/>
              </p:nvSpPr>
              <p:spPr>
                <a:xfrm>
                  <a:off x="714375" y="1943100"/>
                  <a:ext cx="52920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指标</a:t>
                  </a:r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3143250" y="1943100"/>
                  <a:ext cx="120319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结果／计数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5810250" y="1943100"/>
                  <a:ext cx="206502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判定含义与样本范围</a:t>
                  </a:r>
                </a:p>
              </p:txBody>
            </p:sp>
          </p:grpSp>
          <p:sp>
            <p:nvSpPr>
              <p:cNvPr id="11" name="Rectangle 11"/>
              <p:cNvSpPr/>
              <p:nvPr/>
            </p:nvSpPr>
            <p:spPr>
              <a:xfrm>
                <a:off x="533400" y="2238375"/>
                <a:ext cx="11125200" cy="609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33400" y="3457575"/>
                <a:ext cx="11125200" cy="609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714375" y="2457450"/>
                <a:ext cx="10106501" cy="2266950"/>
                <a:chOff x="714375" y="2457450"/>
                <a:chExt cx="10106501" cy="2266950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714375" y="2457450"/>
                  <a:ext cx="1571434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检测 P / R / F1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3143250" y="2457450"/>
                  <a:ext cx="2373154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b="1" dirty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rPr>
                    <a:t>1.000 / 1.000 / 1.000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5810250" y="2457450"/>
                  <a:ext cx="447856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50 条故障检出；5 条正常无误报；FN=FP=0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714375" y="3067050"/>
                  <a:ext cx="11811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诊断正确率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3143250" y="3067050"/>
                  <a:ext cx="1488662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1.000 / 50/50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5810250" y="3067050"/>
                  <a:ext cx="318096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问题码匹配套件约定的目标故障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714375" y="3676650"/>
                  <a:ext cx="11811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定位正确率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3143250" y="3676650"/>
                  <a:ext cx="1488662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0.700 / 35/50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810250" y="3676650"/>
                  <a:ext cx="4610386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命中套件标注的被改动位置；15 条未正确定位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14375" y="4286250"/>
                  <a:ext cx="162306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最终静态通过率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3143250" y="4286250"/>
                  <a:ext cx="1485805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0.844 / 38/45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5810250" y="4286250"/>
                  <a:ext cx="5010626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两轮后 38 条静态 PASS；5 条运行故障不计入分母</a:t>
                  </a:r>
                </a:p>
              </p:txBody>
            </p:sp>
          </p:grpSp>
          <p:sp>
            <p:nvSpPr>
              <p:cNvPr id="26" name="Line 26"/>
              <p:cNvSpPr/>
              <p:nvPr/>
            </p:nvSpPr>
            <p:spPr>
              <a:xfrm>
                <a:off x="533400" y="4676775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533400" y="4882515"/>
              <a:ext cx="11072051" cy="1423035"/>
              <a:chOff x="533400" y="4882515"/>
              <a:chExt cx="11072051" cy="1423035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533400" y="4882515"/>
                <a:ext cx="1147953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结果解释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33400" y="5295900"/>
                <a:ext cx="4405027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F1=2PR/(P+R)；P 与 R 均为 1，故 F1=1。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3400" y="5581650"/>
                <a:ext cx="516978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检出异常仍可能未命中修改位置，定位需继续改进。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33400" y="5867400"/>
                <a:ext cx="494880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合成套件结果不能外推为未知流程的全部准确率。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191250" y="4882515"/>
                <a:ext cx="2473833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拒绝补丁与性能口径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1250" y="5295900"/>
                <a:ext cx="511159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missing_branch / broken_binding：6 条无改善。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191250" y="5581650"/>
                <a:ext cx="499300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另 1 条 broken_binding 补丁不合法，保留拒绝。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191250" y="5867400"/>
                <a:ext cx="541420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静态均值 0.175 ms；监视均值 0.114 ms（进程内）。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33400" y="6401752"/>
                <a:ext cx="956310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依据：experiments/runs/competition/{metrics.json,cases.csv}，2026-09-19；38/45 为两轮修复后静态 PASS；不代表真实运行成功。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18</a:t>
                </a: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1"/>
          <p:cNvGrpSpPr/>
          <p:nvPr/>
        </p:nvGrpSpPr>
        <p:grpSpPr>
          <a:xfrm>
            <a:off x="533400" y="375285"/>
            <a:ext cx="11182826" cy="6340792"/>
            <a:chOff x="533400" y="375285"/>
            <a:chExt cx="11182826" cy="6340792"/>
          </a:xfrm>
        </p:grpSpPr>
        <p:grpSp>
          <p:nvGrpSpPr>
            <p:cNvPr id="5" name="Group 5"/>
            <p:cNvGrpSpPr/>
            <p:nvPr/>
          </p:nvGrpSpPr>
          <p:grpSpPr>
            <a:xfrm>
              <a:off x="533400" y="375285"/>
              <a:ext cx="9357360" cy="1392555"/>
              <a:chOff x="533400" y="375285"/>
              <a:chExt cx="9357360" cy="1392555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33400" y="375285"/>
                <a:ext cx="2919222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实验与工程验证 / 消融、测试与复现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533400" y="685800"/>
                <a:ext cx="935736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关闭验证层会增加漏检，测试与部署记录可复核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1243965"/>
                <a:ext cx="8577929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四种配置使用同一套 55 组案例，精确率均为 1；F1 差异来自故障漏检。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33400" y="1815465"/>
              <a:ext cx="5371052" cy="4261485"/>
              <a:chOff x="533400" y="1815465"/>
              <a:chExt cx="5371052" cy="426148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33400" y="1815465"/>
                <a:ext cx="2360104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检测 F1 / 取值 0–1</a:t>
                </a:r>
              </a:p>
            </p:txBody>
          </p:sp>
          <p:sp>
            <p:nvSpPr>
              <p:cNvPr id="7" name="Line 7"/>
              <p:cNvSpPr/>
              <p:nvPr/>
            </p:nvSpPr>
            <p:spPr>
              <a:xfrm>
                <a:off x="2028825" y="22860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971675" y="2375535"/>
                <a:ext cx="179927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724525" y="2375535"/>
                <a:ext cx="179927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533400" y="2752725"/>
                <a:ext cx="971169" cy="2209800"/>
                <a:chOff x="533400" y="2752725"/>
                <a:chExt cx="971169" cy="2209800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533400" y="2752725"/>
                  <a:ext cx="75018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仅结构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533400" y="3343275"/>
                  <a:ext cx="97116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关闭安全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533400" y="3933825"/>
                  <a:ext cx="750189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仅静态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533400" y="4524375"/>
                  <a:ext cx="96012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完整验证</a:t>
                  </a:r>
                </a:p>
              </p:txBody>
            </p:sp>
          </p:grpSp>
          <p:grpSp>
            <p:nvGrpSpPr>
              <p:cNvPr id="19" name="Group 19"/>
              <p:cNvGrpSpPr/>
              <p:nvPr/>
            </p:nvGrpSpPr>
            <p:grpSpPr>
              <a:xfrm>
                <a:off x="2028825" y="2647950"/>
                <a:ext cx="3810000" cy="2124075"/>
                <a:chOff x="2028825" y="2647950"/>
                <a:chExt cx="3810000" cy="2124075"/>
              </a:xfrm>
            </p:grpSpPr>
            <p:sp>
              <p:nvSpPr>
                <p:cNvPr id="15" name="Rectangle 15"/>
                <p:cNvSpPr/>
                <p:nvPr/>
              </p:nvSpPr>
              <p:spPr>
                <a:xfrm>
                  <a:off x="2028825" y="2647950"/>
                  <a:ext cx="3810000" cy="352425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6" name="Rectangle 16"/>
                <p:cNvSpPr/>
                <p:nvPr/>
              </p:nvSpPr>
              <p:spPr>
                <a:xfrm>
                  <a:off x="2028825" y="3238500"/>
                  <a:ext cx="3810000" cy="352425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7" name="Rectangle 17"/>
                <p:cNvSpPr/>
                <p:nvPr/>
              </p:nvSpPr>
              <p:spPr>
                <a:xfrm>
                  <a:off x="2028825" y="3829050"/>
                  <a:ext cx="3810000" cy="352425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8" name="Rectangle 18"/>
                <p:cNvSpPr/>
                <p:nvPr/>
              </p:nvSpPr>
              <p:spPr>
                <a:xfrm>
                  <a:off x="2028825" y="4419600"/>
                  <a:ext cx="3810000" cy="352425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</p:grpSp>
          <p:sp>
            <p:nvSpPr>
              <p:cNvPr id="20" name="Rectangle 20"/>
              <p:cNvSpPr/>
              <p:nvPr/>
            </p:nvSpPr>
            <p:spPr>
              <a:xfrm>
                <a:off x="2028825" y="2647950"/>
                <a:ext cx="1760220" cy="3524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028825" y="3238500"/>
                <a:ext cx="3387090" cy="3524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028825" y="3829050"/>
                <a:ext cx="3608070" cy="3524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2028825" y="4419600"/>
                <a:ext cx="3810000" cy="35242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2162175" y="2710815"/>
                <a:ext cx="808292" cy="2295525"/>
                <a:chOff x="2162175" y="2710815"/>
                <a:chExt cx="808292" cy="2295525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2162175" y="2710815"/>
                  <a:ext cx="806101" cy="523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8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0.462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2162175" y="3301365"/>
                  <a:ext cx="806101" cy="523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8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0.889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2162175" y="3891915"/>
                  <a:ext cx="808292" cy="523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8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0.947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2162175" y="4482465"/>
                  <a:ext cx="808292" cy="5238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noAutofit/>
                </a:bodyPr>
                <a:lstStyle/>
                <a:p>
                  <a:pPr algn="l"/>
                  <a:r>
                    <a:rPr lang="en-US" sz="18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1.000</a:t>
                  </a:r>
                </a:p>
              </p:txBody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533400" y="5067300"/>
                <a:ext cx="425996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只做结构：召回 0.300，漏掉语义等故障。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3400" y="5353050"/>
                <a:ext cx="424891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关闭安全：召回 0.800，运行监视仍开启。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33400" y="5638800"/>
                <a:ext cx="474125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仅静态：召回 0.900，漏掉 5 条运行专有故障。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067425" y="1809750"/>
              <a:ext cx="5094446" cy="4191000"/>
              <a:chOff x="6067425" y="1809750"/>
              <a:chExt cx="5094446" cy="4191000"/>
            </a:xfrm>
          </p:grpSpPr>
          <p:sp>
            <p:nvSpPr>
              <p:cNvPr id="33" name="Line 33"/>
              <p:cNvSpPr/>
              <p:nvPr/>
            </p:nvSpPr>
            <p:spPr>
              <a:xfrm>
                <a:off x="6067425" y="1809750"/>
                <a:ext cx="9525" cy="413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33850">
                    <a:moveTo>
                      <a:pt x="0" y="0"/>
                    </a:moveTo>
                    <a:lnTo>
                      <a:pt x="0" y="413385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334125" y="1815465"/>
                <a:ext cx="2462784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工程记录与复现入口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334125" y="2238375"/>
                <a:ext cx="4827746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历史 pytest：287 passed，2026-09-30 记录。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334125" y="2524125"/>
                <a:ext cx="441121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前端构建与 Playwright 未在该报告中重跑。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334125" y="2809875"/>
                <a:ext cx="4776121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公网：Ubuntu 24.04，Nginx 8081 统一入口。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334125" y="3095625"/>
                <a:ext cx="4144804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Next.js 3000 / FastAPI 8010 / Docker。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334125" y="3616642"/>
                <a:ext cx="4341876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python scripts/competition_benchmark.py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334125" y="3987165"/>
                <a:ext cx="2462784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未运行项与增量样本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334125" y="4419600"/>
                <a:ext cx="405384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大模型对照：未运行，评测密钥未设置。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334125" y="4705350"/>
                <a:ext cx="31699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竞赛套件的增量加速：未测量。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334125" y="4991100"/>
                <a:ext cx="409336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另有 4 节点历史单例，非竞赛增量测量。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334125" y="5276850"/>
                <a:ext cx="44958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单例结果一致、未回退；缺重复次数与分布。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334125" y="5562600"/>
                <a:ext cx="450684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仅作初步记录，不能据此宣称通用加速倍数。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47" name="Line 47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33400" y="6401752"/>
                <a:ext cx="7481602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依据：competition/ablation.json、llm_judge.json；incremental/latency.json；docs/contest/04、05。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19</a:t>
                </a: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2"/>
          <p:cNvGrpSpPr/>
          <p:nvPr/>
        </p:nvGrpSpPr>
        <p:grpSpPr>
          <a:xfrm>
            <a:off x="533400" y="361950"/>
            <a:ext cx="11182826" cy="6354127"/>
            <a:chOff x="533400" y="361950"/>
            <a:chExt cx="11182826" cy="6354127"/>
          </a:xfrm>
        </p:grpSpPr>
        <p:grpSp>
          <p:nvGrpSpPr>
            <p:cNvPr id="6" name="Group 6"/>
            <p:cNvGrpSpPr/>
            <p:nvPr/>
          </p:nvGrpSpPr>
          <p:grpSpPr>
            <a:xfrm>
              <a:off x="533400" y="361950"/>
              <a:ext cx="8740712" cy="1691640"/>
              <a:chOff x="533400" y="361950"/>
              <a:chExt cx="8740712" cy="1691640"/>
            </a:xfrm>
          </p:grpSpPr>
          <p:pic>
            <p:nvPicPr>
              <p:cNvPr id="2" name="Image 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3400" y="36195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3" name="TextBox 3"/>
              <p:cNvSpPr txBox="1"/>
              <p:nvPr/>
            </p:nvSpPr>
            <p:spPr>
              <a:xfrm>
                <a:off x="1162050" y="472440"/>
                <a:ext cx="3635692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VeriFlow / 应用价值与下一步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533400" y="981075"/>
                <a:ext cx="8740712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可用于出题质检与 CI 门禁，扩展需继续验证</a:t>
                </a: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533400" y="1529715"/>
                <a:ext cx="8296656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目前已实现需求编译、工作流验证、轨迹监视、补丁修复和发布门禁。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33400" y="2139315"/>
              <a:ext cx="3371850" cy="2823210"/>
              <a:chOff x="533400" y="2139315"/>
              <a:chExt cx="3371850" cy="282321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33400" y="2139315"/>
                <a:ext cx="2480882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已实现 / 可使用场景</a:t>
                </a:r>
              </a:p>
            </p:txBody>
          </p:sp>
          <p:sp>
            <p:nvSpPr>
              <p:cNvPr id="8" name="Line 8"/>
              <p:cNvSpPr/>
              <p:nvPr/>
            </p:nvSpPr>
            <p:spPr>
              <a:xfrm>
                <a:off x="533400" y="2524125"/>
                <a:ext cx="3371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71850" h="9525">
                    <a:moveTo>
                      <a:pt x="0" y="0"/>
                    </a:moveTo>
                    <a:lnTo>
                      <a:pt x="337185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533400" y="2752725"/>
                <a:ext cx="31699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出题质检：识别缺审核、弱范围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33400" y="3038475"/>
                <a:ext cx="294894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与连接错误，保留失败证据。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33400" y="3495675"/>
                <a:ext cx="318096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流程门禁：结构化报告与退出码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33400" y="3781425"/>
                <a:ext cx="300628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可接入 CI；失败时阻断发布。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33400" y="4238625"/>
                <a:ext cx="275005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解题训练：沙箱、隐藏数据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33400" y="4524375"/>
                <a:ext cx="22860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与反例帮助复现错误。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286250" y="2139315"/>
              <a:ext cx="3599593" cy="2823210"/>
              <a:chOff x="4286250" y="2139315"/>
              <a:chExt cx="3599593" cy="282321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4286250" y="2139315"/>
                <a:ext cx="2746057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当前边界 / 已明确限制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4286250" y="2524125"/>
                <a:ext cx="3371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71850" h="9525">
                    <a:moveTo>
                      <a:pt x="0" y="0"/>
                    </a:moveTo>
                    <a:lnTo>
                      <a:pt x="3371850" y="0"/>
                    </a:lnTo>
                  </a:path>
                </a:pathLst>
              </a:custGeom>
              <a:noFill/>
              <a:ln w="28575">
                <a:solidFill>
                  <a:srgbClr val="C05B5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286250" y="2752725"/>
                <a:ext cx="31699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内部合成基准，无真实用户收益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286250" y="3038475"/>
                <a:ext cx="250698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或规模化生产数据支持。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286250" y="3495675"/>
                <a:ext cx="31699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安全检查与并发对齐均有近似；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286250" y="3781425"/>
                <a:ext cx="250698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运行验证采用模拟执行。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86250" y="4238625"/>
                <a:ext cx="340156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真实 n8n / Dify、Java、交互题、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286250" y="4524375"/>
                <a:ext cx="3599593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特殊评判与 C++ AST 变异未接入。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039100" y="2139315"/>
              <a:ext cx="3619500" cy="2823210"/>
              <a:chOff x="8039100" y="2139315"/>
              <a:chExt cx="3619500" cy="282321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039100" y="2139315"/>
                <a:ext cx="2480882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未来规划 / 验证优先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8039100" y="2524125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039100" y="2752725"/>
                <a:ext cx="31699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扩充真实缺陷与陌生流程样本，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39100" y="3038475"/>
                <a:ext cx="272796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重点提高定位与补丁覆盖。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39100" y="3495675"/>
                <a:ext cx="2739009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重复测量增量耗时、等价性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39100" y="3781425"/>
                <a:ext cx="294894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与回退率，完成大模型对照。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039100" y="4238625"/>
                <a:ext cx="31699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接入真实轨迹，验证并发语义；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39100" y="4524375"/>
                <a:ext cx="316992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开展用户试点与产品体验评估。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33400" y="5295900"/>
              <a:ext cx="11125200" cy="847725"/>
              <a:chOff x="533400" y="5295900"/>
              <a:chExt cx="11125200" cy="847725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33400" y="5295900"/>
                <a:ext cx="11125200" cy="742950"/>
              </a:xfrm>
              <a:prstGeom prst="roundRect">
                <a:avLst>
                  <a:gd name="adj" fmla="val 769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23900" y="5419725"/>
                <a:ext cx="3935254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演示入口：http://116.62.5.67:8081/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23900" y="5705475"/>
                <a:ext cx="927049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复核材料：docs/contest / packages / examples/golden / experiments/runs/competition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33400" y="6248400"/>
              <a:ext cx="11182826" cy="467677"/>
              <a:chOff x="533400" y="6248400"/>
              <a:chExt cx="11182826" cy="467677"/>
            </a:xfrm>
          </p:grpSpPr>
          <p:sp>
            <p:nvSpPr>
              <p:cNvPr id="38" name="Line 38"/>
              <p:cNvSpPr/>
              <p:nvPr/>
            </p:nvSpPr>
            <p:spPr>
              <a:xfrm>
                <a:off x="533400" y="62484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33400" y="6401752"/>
                <a:ext cx="6522434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赛题：aicomp.cn/tracks/tracks-2/3792.html；所有成果区分已实现、内部基准与未来规划。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1458575" y="6401752"/>
                <a:ext cx="25765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veriflow-final-review">
  <a:themeElements>
    <a:clrScheme name="veriflow-final-review">
      <a:dk1>
        <a:srgbClr val="173044"/>
      </a:dk1>
      <a:lt1>
        <a:srgbClr val="F7FAFC"/>
      </a:lt1>
      <a:dk2>
        <a:srgbClr val="4F687B"/>
      </a:dk2>
      <a:lt2>
        <a:srgbClr val="E8F0F5"/>
      </a:lt2>
      <a:accent1>
        <a:srgbClr val="135783"/>
      </a:accent1>
      <a:accent2>
        <a:srgbClr val="0A9B9A"/>
      </a:accent2>
      <a:accent3>
        <a:srgbClr val="5274B4"/>
      </a:accent3>
      <a:accent4>
        <a:srgbClr val="CBDCE6"/>
      </a:accent4>
      <a:accent5>
        <a:srgbClr val="586F80"/>
      </a:accent5>
      <a:accent6>
        <a:srgbClr val="087574"/>
      </a:accent6>
      <a:hlink>
        <a:srgbClr val="0A9B9A"/>
      </a:hlink>
      <a:folHlink>
        <a:srgbClr val="5274B4"/>
      </a:folHlink>
    </a:clrScheme>
    <a:fontScheme name="veriflow-final-revie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eriflow-final-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eriflow-final-review">
  <a:themeElements>
    <a:clrScheme name="veriflow-final-review">
      <a:dk1>
        <a:srgbClr val="173044"/>
      </a:dk1>
      <a:lt1>
        <a:srgbClr val="F7FAFC"/>
      </a:lt1>
      <a:dk2>
        <a:srgbClr val="4F687B"/>
      </a:dk2>
      <a:lt2>
        <a:srgbClr val="E8F0F5"/>
      </a:lt2>
      <a:accent1>
        <a:srgbClr val="135783"/>
      </a:accent1>
      <a:accent2>
        <a:srgbClr val="0A9B9A"/>
      </a:accent2>
      <a:accent3>
        <a:srgbClr val="5274B4"/>
      </a:accent3>
      <a:accent4>
        <a:srgbClr val="CBDCE6"/>
      </a:accent4>
      <a:accent5>
        <a:srgbClr val="586F80"/>
      </a:accent5>
      <a:accent6>
        <a:srgbClr val="087574"/>
      </a:accent6>
      <a:hlink>
        <a:srgbClr val="0A9B9A"/>
      </a:hlink>
      <a:folHlink>
        <a:srgbClr val="5274B4"/>
      </a:folHlink>
    </a:clrScheme>
    <a:fontScheme name="veriflow-final-revie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eriflow-final-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2026-10-04T18:32:47Z</dcterms:created>
  <dcterms:modified xsi:type="dcterms:W3CDTF">2026-10-04T18:32:47Z</dcterms:modified>
  <cp:category/>
  <cp:contentStatus/>
</cp:coreProperties>
</file>